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1 - SPEAKER 1):</a:t>
            </a:r>
          </a:p>
          <a:p>
            <a:r>
              <a:t>Good morning, respected committee members and faculty.</a:t>
            </a:r>
          </a:p>
          <a:p/>
          <a:p>
            <a:r>
              <a:t>We are creating a system that understands the physical language of radiative transfer and optical physics beyond human visual capabilities. As human beings, our vision is confined to a razor-thin 300-nanometer slice of visible light: Red, Green, and Blue. What we cannot see, we cannot diagnose.</a:t>
            </a:r>
          </a:p>
          <a:p/>
          <a:p>
            <a:r>
              <a:t>Every day, 140 million Indian smallholders look at their crops through these limited RGB eyes. But nature does not speak in RGB. The true biochemical language of Earth — cellular water stress, nitrogen deficiency, leaf carotenoids, and soil sodicity — is written across 400 to 2,500 nanometers of continuous reflected solar radiation.</a:t>
            </a:r>
          </a:p>
          <a:p/>
          <a:p>
            <a:r>
              <a:t>This project bridges that perceptual chasm. This is BharatSpectral: Democratized Spectral-Semantic Intelligence (DSSI).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2 - SPEAKER 1):</a:t>
            </a:r>
          </a:p>
          <a:p>
            <a:r>
              <a:t>To systematically address this grand challenge, our capstone is structured around five concrete, testable objectives.</a:t>
            </a:r>
          </a:p>
          <a:p/>
          <a:p>
            <a:r>
              <a:t>First, Data Acquisition &amp; Benchmark Creation: We curate BharatHSI-Bench across AVIRIS-NG India, ISRO HysIS, and NASA EMIT.</a:t>
            </a:r>
          </a:p>
          <a:p>
            <a:r>
              <a:t>Second, Empirical Failure Proof: We demonstrate why existing models fail when transferred to Indian landscapes.</a:t>
            </a:r>
          </a:p>
          <a:p>
            <a:r>
              <a:t>Third, Physics-Informed Foundation Model: We build BharatSpectral-MAE, incorporating optical physics into self-supervised learning.</a:t>
            </a:r>
          </a:p>
          <a:p>
            <a:r>
              <a:t>Fourth, Multi-Domain Biochemical Adaptation: We fine-tune representations for agricultural, water, and soil diagnostics.</a:t>
            </a:r>
          </a:p>
          <a:p>
            <a:r>
              <a:t>Fifth, Democratized Public Delivery: We engineer a zero-cost edge WebGIS providing actionable vernacular advisories.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3 - SPEAKER 1):</a:t>
            </a:r>
          </a:p>
          <a:p>
            <a:r>
              <a:t>Respected committee members, true scientific breakthroughs cannot occur within the isolated silos of a single academic department.</a:t>
            </a:r>
          </a:p>
          <a:p/>
          <a:p>
            <a:r>
              <a:t>BharatSpectral sits at the confluence of seven distinct fields: Atmospheric Physics, Plant Physiology, Optical Spectroscopy, Self-Supervised Transformers, Cloudflare Edge Infrastructure, Smallholder Agronomy, and Public Policy.</a:t>
            </a:r>
          </a:p>
          <a:p/>
          <a:p>
            <a:r>
              <a:t>By merging these fields, we create a system that is physically grounded and practically deployable.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4 - SPEAKER 1):</a:t>
            </a:r>
          </a:p>
          <a:p>
            <a:r>
              <a:t>Slide 4 demonstrates the physical difference between standard multispectral imaging and continuous hyperspectral spectroscopy.</a:t>
            </a:r>
          </a:p>
          <a:p/>
          <a:p>
            <a:r>
              <a:t>Multispectral sensors like Sentinel-2 capture only 10 broad spectral bands. They can register that a crop is stressed, but cannot diagnose why.</a:t>
            </a:r>
          </a:p>
          <a:p/>
          <a:p>
            <a:r>
              <a:t>Hyperspectral sensors record 425 continuous 5-nanometer channels. This allows us to detect subtle biochemical signatures like the Chlorophyll Red-Edge, cellular moisture absorption at 970nm, and leaf nitrogen at 2200nm.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5 - SPEAKER 1):</a:t>
            </a:r>
          </a:p>
          <a:p>
            <a:r>
              <a:t>When solar photons enter a crop canopy, they undergo complex multi-bounce volumetric scattering between leaves, soil, and moisture droplets.</a:t>
            </a:r>
          </a:p>
          <a:p/>
          <a:p>
            <a:r>
              <a:t>The resulting 3D Hyperspectral Data Cube captures two spatial dimensions and one dense spectral dimension. Every pixel represents a continuous physical spectrum governed by radiative transfer, establishing the foundation for our deep learning pipeline.</a:t>
            </a:r>
          </a:p>
          <a:p/>
          <a:p>
            <a:r>
              <a:t>I now hand over to Speaker 2 to discuss our data sources and empirical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6 - SPEAKER 2):</a:t>
            </a:r>
          </a:p>
          <a:p>
            <a:r>
              <a:t>Thank you. Respected committee members, our research is anchored directly on real hyperspectral missions covering India.</a:t>
            </a:r>
          </a:p>
          <a:p/>
          <a:p>
            <a:r>
              <a:t>We leverage AVIRIS-NG India, flown collaboratively by ISRO and NASA with 425 spectral bands at high spatial resolution; NASA EMIT aboard the International Space Station with 285 channels; and ISRO's HysIS satellite with 220 bands.</a:t>
            </a:r>
          </a:p>
          <a:p/>
          <a:p>
            <a:r>
              <a:t>Harmonizing these disparate datasets requires robust preprocessing, as shown in our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7 - SPEAKER 2):</a:t>
            </a:r>
          </a:p>
          <a:p>
            <a:r>
              <a:t>Raw hyperspectral data straight from orbit contains atmospheric distortions, water vapor gaps, and noise.</a:t>
            </a:r>
          </a:p>
          <a:p/>
          <a:p>
            <a:r>
              <a:t>Our automated preprocessing assembly line processes raw flight lines through five standardized stages: radiometric calibration, atmospheric correction, bad-band removal around moisture absorption windows, spatial tiling tailored to smallholder plot scales, and tensor packing.</a:t>
            </a:r>
          </a:p>
          <a:p/>
          <a:p>
            <a:r>
              <a:t>This clean, standardized data forms the foundation of our benchmark evaluation.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8 - SPEAKER 2):</a:t>
            </a:r>
          </a:p>
          <a:p>
            <a:r>
              <a:t>Can existing AI models be applied directly to Indian agricultural remote sensing? Our empirical evaluation proves they cannot.</a:t>
            </a:r>
          </a:p>
          <a:p/>
          <a:p>
            <a:r>
              <a:t>When evaluated on our testbed, leading architectures — from Random Forests and 3D-CNNs to modern Vision Transformers like SpectralGPT — suffer a severe collapse of 22% to 37% in Overall Accuracy.</a:t>
            </a:r>
          </a:p>
          <a:p/>
          <a:p>
            <a:r>
              <a:t>These models were benchmarked on homogeneous Western monoculture fields. On fragmented Indian smallholder farms, they fail.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9 - SPEAKER 2):</a:t>
            </a:r>
          </a:p>
          <a:p>
            <a:r>
              <a:t>Why do we specifically need BharatSpectral? These four pinned requirements capture the core justification:</a:t>
            </a:r>
          </a:p>
          <a:p/>
          <a:p>
            <a:r>
              <a:t>1. Sub-Pixel Fragmentation: Addressing smallholder plot mixing that breaks Western monoculture assumptions.</a:t>
            </a:r>
          </a:p>
          <a:p>
            <a:r>
              <a:t>2. Multi-Sensor Heterogeneity: Unifying AVIRIS-NG, EMIT, and HysIS into a shared physical embedding space.</a:t>
            </a:r>
          </a:p>
          <a:p>
            <a:r>
              <a:t>3. Subtle Biochemical Absorption: Preserving faint chemical signals in the shortwave infrared.</a:t>
            </a:r>
          </a:p>
          <a:p>
            <a:r>
              <a:t>4. Democratized Accessibility: Replacing prohibitive desktop software with zero-cost edge inference for farmers.</a:t>
            </a:r>
          </a:p>
          <a:p/>
          <a:p>
            <a:r>
              <a:t>To outline our technical roadmap across all project phases, I hand over to Speaker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10 - SPEAKER 3):</a:t>
            </a:r>
          </a:p>
          <a:p>
            <a:r>
              <a:t>Respected committee members, our project execution spans five progressive phases.</a:t>
            </a:r>
          </a:p>
          <a:p/>
          <a:p>
            <a:r>
              <a:t>For our mid-term milestone, we have completed Phase 1: Data Acquisition &amp; Preprocessing, assembling clean standardized datasets; and Phase 2: Baseline Benchmarking, demonstrating the 22% to 37% accuracy collapse across classical and deep learning models.</a:t>
            </a:r>
          </a:p>
          <a:p/>
          <a:p>
            <a:r>
              <a:t>Looking forward, Phase 3 will engineer BharatSpectral-MAE, incorporating our physics-informed tokenization and loss formulations; Phase 4 adapts representations across biochemical and stress downstream tasks; and Phase 5 deploys our zero-cost edge WebGIS infrastructure.</a:t>
            </a:r>
          </a:p>
          <a:p/>
          <a:p>
            <a:r>
              <a:t>I will now pass to Speaker 4 to demonstrate our operational use cases and conclude the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11 - SPEAKER 4):</a:t>
            </a:r>
          </a:p>
          <a:p>
            <a:r>
              <a:t>Thank you. To illustrate the tangible real-world impact of BharatSpectral, we present four operational field scenarios.</a:t>
            </a:r>
          </a:p>
          <a:p/>
          <a:p>
            <a:r>
              <a:t>Scenario 1 addresses 'The Invisible Hunger' — sub-visual crop nitrogen deficiency. Under standard RGB or multispectral satellite imaging, crops appear healthy green until cellular damage has already occurred.</a:t>
            </a:r>
          </a:p>
          <a:p/>
          <a:p>
            <a:r>
              <a:t>BharatSpectral analyzes diagnostic absorption dips at 2.1 to 2.3 microns, detecting nitrogen deficits two weeks earlier and generating precise micro-dosing advisories that save fertilizer costs and preserve yields.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12 - SPEAKER 4):</a:t>
            </a:r>
          </a:p>
          <a:p>
            <a:r>
              <a:t>Scenario 2 addresses agricultural canal contamination and toxic algal blooms.</a:t>
            </a:r>
          </a:p>
          <a:p/>
          <a:p>
            <a:r>
              <a:t>Agricultural canals are vital lifelines across rural India, but run-off from chemical fertilizers triggers dangerous cyanobacteria blooms.</a:t>
            </a:r>
          </a:p>
          <a:p/>
          <a:p>
            <a:r>
              <a:t>By tracking phycocyanin absorption features at 620nm and unmixing industrial effluents from suspended sediments, BharatSpectral detects water toxicity before irrigation water reaches sensitive crop fields.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13 - SPEAKER 4):</a:t>
            </a:r>
          </a:p>
          <a:p>
            <a:r>
              <a:t>Scenario 3 showcases pre-symptomatic moisture stress detection.</a:t>
            </a:r>
          </a:p>
          <a:p/>
          <a:p>
            <a:r>
              <a:t>When drought strikes, plant cell walls dehydrate long before leaves turn yellow or curl. Conventional satellites provide warnings only after visual wilting sets in.</a:t>
            </a:r>
          </a:p>
          <a:p/>
          <a:p>
            <a:r>
              <a:t>BharatSpectral tracks Equivalent Water Thickness across the 970nm and 1200nm water absorption windows, delivering 14-day advance warnings that allow farmers to schedule protective irrigation before yield loss becomes irreversible.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14 - SPEAKER 4):</a:t>
            </a:r>
          </a:p>
          <a:p>
            <a:r>
              <a:t>Scenario 4 focuses on soil salinity and sodicity reclamation.</a:t>
            </a:r>
          </a:p>
          <a:p/>
          <a:p>
            <a:r>
              <a:t>In irrigated canal tracts across northern and western India, secondary salinization silently degrades soil fertility. Surface visual checks cannot distinguish harmless white crusting from destructive soil sodicity.</a:t>
            </a:r>
          </a:p>
          <a:p/>
          <a:p>
            <a:r>
              <a:t>Using diagnostic shortwave infrared hydroxyl and carbonate absorption signatures, BharatSpectral maps subsurface soil health, directing targeted gypsum soil remediation before land degradation becomes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15 - SPEAKER 4):</a:t>
            </a:r>
          </a:p>
          <a:p>
            <a:r>
              <a:t>Our research builds upon foundational literature across hyperspectral Vision Transformers and spectroscopic unmixing.</a:t>
            </a:r>
          </a:p>
          <a:p/>
          <a:p>
            <a:r>
              <a:t>We ground our self-supervised learning on SpectralGPT, SS-MAE, and HyperSIGMA, while adapting scale-aware principles from Scale-MAE and physical unmixing constraints from Keshava &amp; Mustard.</a:t>
            </a:r>
          </a:p>
          <a:p/>
          <a:p>
            <a:r>
              <a:t>These peer-reviewed foundations provide the theoretical rigor underlying our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SCRIPT (SLIDE 16 - SPEAKER 4):</a:t>
            </a:r>
          </a:p>
          <a:p>
            <a:r>
              <a:t>On behalf of our entire capstone team — Priyanshu and our fellow researchers — and with sincere gratitude to our project supervisor, we thank the respected evaluation committee and faculty members for your time and guidance.</a:t>
            </a:r>
          </a:p>
          <a:p/>
          <a:p>
            <a:r>
              <a:t>BharatSpectral represents our commitment to democratizing advanced spectral intelligence for Indian agriculture, ecology, and public science.</a:t>
            </a:r>
          </a:p>
          <a:p/>
          <a:p>
            <a:r>
              <a:t>We now welcome your questions, feedback, and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6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4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011680" y="256032"/>
            <a:ext cx="8165592" cy="59436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73152" bIns="73152"/>
          <a:lstStyle/>
          <a:p>
            <a:pPr algn="ctr">
              <a:defRPr sz="1600" b="1">
                <a:solidFill>
                  <a:srgbClr val="0B7285"/>
                </a:solidFill>
                <a:latin typeface="Trebuchet MS"/>
              </a:defRPr>
            </a:pPr>
            <a:r>
              <a:t>BharatSpectral: Democratized Spectral-Semantic Intelligence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676" y="109728"/>
            <a:ext cx="137160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109728"/>
            <a:ext cx="347472" cy="34747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1143000"/>
            <a:ext cx="26060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in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7924" y="996696"/>
            <a:ext cx="347472" cy="347472"/>
          </a:xfrm>
          <a:prstGeom prst="rect">
            <a:avLst/>
          </a:prstGeom>
        </p:spPr>
      </p:pic>
      <p:pic>
        <p:nvPicPr>
          <p:cNvPr id="8" name="Picture 7" descr="hero_satellite_ear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1271016"/>
            <a:ext cx="2386584" cy="203911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697480" y="3520440"/>
            <a:ext cx="27432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in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95344" y="3374136"/>
            <a:ext cx="347472" cy="347472"/>
          </a:xfrm>
          <a:prstGeom prst="rect">
            <a:avLst/>
          </a:prstGeom>
        </p:spPr>
      </p:pic>
      <p:pic>
        <p:nvPicPr>
          <p:cNvPr id="11" name="Picture 10" descr="photon_pinball_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07208" y="3648456"/>
            <a:ext cx="2523744" cy="217627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800600" y="1051560"/>
            <a:ext cx="2743200" cy="24231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in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8464" y="905255"/>
            <a:ext cx="347472" cy="347472"/>
          </a:xfrm>
          <a:prstGeom prst="rect">
            <a:avLst/>
          </a:prstGeom>
        </p:spPr>
      </p:pic>
      <p:pic>
        <p:nvPicPr>
          <p:cNvPr id="14" name="Picture 13" descr="continuous_spectroscop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0328" y="1179576"/>
            <a:ext cx="2523744" cy="2130552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858000" y="3566160"/>
            <a:ext cx="2743200" cy="2468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in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5864" y="3419856"/>
            <a:ext cx="347472" cy="347472"/>
          </a:xfrm>
          <a:prstGeom prst="rect">
            <a:avLst/>
          </a:prstGeom>
        </p:spPr>
      </p:pic>
      <p:pic>
        <p:nvPicPr>
          <p:cNvPr id="17" name="Picture 16" descr="india_hsi_cover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7728" y="3694176"/>
            <a:ext cx="2523744" cy="217627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961120" y="1188720"/>
            <a:ext cx="2606040" cy="2331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in_r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0404" y="1042416"/>
            <a:ext cx="347472" cy="347472"/>
          </a:xfrm>
          <a:prstGeom prst="rect">
            <a:avLst/>
          </a:prstGeom>
        </p:spPr>
      </p:pic>
      <p:pic>
        <p:nvPicPr>
          <p:cNvPr id="20" name="Picture 19" descr="hero_satellite_eart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1316736"/>
            <a:ext cx="2386584" cy="2039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Project Objectives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10360152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11480" rIns="411480" tIns="320040" bIns="320040"/>
          <a:lstStyle/>
          <a:p>
            <a:pPr algn="ctr">
              <a:defRPr b="1" sz="1100">
                <a:solidFill>
                  <a:srgbClr val="0B7285"/>
                </a:solidFill>
              </a:defRPr>
            </a:pPr>
            <a:r>
              <a:t>1. Data Acquisition &amp; Benchmark Creation: </a:t>
            </a:r>
            <a:r>
              <a:rPr b="0">
                <a:solidFill>
                  <a:srgbClr val="2A231B"/>
                </a:solidFill>
              </a:rPr>
              <a:t>Ingest heterogeneous hyperspectral cubes across AVIRIS-NG India (425 bands), ISRO HysIS (220 bands), and NASA EMIT (285 bands) to construct BharatHSI-Bench — India's first open, labeled smallholder agricultural benchmark dataset with standardized evaluation protocols.</a:t>
            </a:r>
          </a:p>
          <a:p>
            <a:pPr>
              <a:spcBef>
                <a:spcPts val="1000"/>
              </a:spcBef>
              <a:defRPr b="1" sz="1100">
                <a:solidFill>
                  <a:srgbClr val="D9480F"/>
                </a:solidFill>
              </a:defRPr>
            </a:pPr>
            <a:r>
              <a:t>2. Empirical Failure Proof: </a:t>
            </a:r>
            <a:r>
              <a:rPr b="0">
                <a:solidFill>
                  <a:srgbClr val="2A231B"/>
                </a:solidFill>
              </a:rPr>
              <a:t>Rigorously evaluate global Foundation Models (SpectralGPT, HyperSIGMA) and baseline architectures directly on BharatHSI-Bench, quantifying severe domain-shift degradation (15%–30% Overall Accuracy drop) over fragmented Indian plots.</a:t>
            </a:r>
          </a:p>
          <a:p>
            <a:pPr>
              <a:spcBef>
                <a:spcPts val="1000"/>
              </a:spcBef>
              <a:defRPr b="1" sz="1100">
                <a:solidFill>
                  <a:srgbClr val="6741D9"/>
                </a:solidFill>
              </a:defRPr>
            </a:pPr>
            <a:r>
              <a:t>3. Physics-Informed Foundation Model: </a:t>
            </a:r>
            <a:r>
              <a:rPr b="0">
                <a:solidFill>
                  <a:srgbClr val="2A231B"/>
                </a:solidFill>
              </a:rPr>
              <a:t>Design BharatSpectral-MAE, introducing seven named architectural innovations (Scale-Spectral Positional Encoding, Atmospheric Absorption Masking, Reflectance-Normalized Loss) to achieve state-of-the-art representations under Indian agricultural conditions.</a:t>
            </a:r>
          </a:p>
          <a:p>
            <a:pPr>
              <a:spcBef>
                <a:spcPts val="1000"/>
              </a:spcBef>
              <a:defRPr b="1" sz="1100">
                <a:solidFill>
                  <a:srgbClr val="2B8A3E"/>
                </a:solidFill>
              </a:defRPr>
            </a:pPr>
            <a:r>
              <a:t>4. Multi-Domain Biochemical Adaptation: </a:t>
            </a:r>
            <a:r>
              <a:rPr b="0">
                <a:solidFill>
                  <a:srgbClr val="2A231B"/>
                </a:solidFill>
              </a:rPr>
              <a:t>Fine-tune foundation representations for downstream diagnostic tasks including nitrogen deficit mapping, soil organic carbon estimation, inland water chlorophyll-a monitoring, and soil salinity/sodicity defense.</a:t>
            </a:r>
          </a:p>
          <a:p>
            <a:pPr>
              <a:spcBef>
                <a:spcPts val="1000"/>
              </a:spcBef>
              <a:defRPr b="1" sz="1100">
                <a:solidFill>
                  <a:srgbClr val="C92A2A"/>
                </a:solidFill>
              </a:defRPr>
            </a:pPr>
            <a:r>
              <a:t>5. Democratized Public Delivery: </a:t>
            </a:r>
            <a:r>
              <a:rPr b="0">
                <a:solidFill>
                  <a:srgbClr val="2A231B"/>
                </a:solidFill>
              </a:rPr>
              <a:t>Deploy an open, zero-cost WebGIS platform with sub-second Serverless Spectral Inference (SSI) via Cloudflare Workers and ONNX edge runtime, translating complex spectral tensors into direct vernacular farmer advisories.</a:t>
            </a:r>
          </a:p>
        </p:txBody>
      </p:sp>
      <p:pic>
        <p:nvPicPr>
          <p:cNvPr id="8" name="Picture 7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1188719"/>
            <a:ext cx="347472" cy="347472"/>
          </a:xfrm>
          <a:prstGeom prst="rect">
            <a:avLst/>
          </a:prstGeom>
        </p:spPr>
      </p:pic>
      <p:pic>
        <p:nvPicPr>
          <p:cNvPr id="9" name="Picture 8" descr="pin_yel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0" y="1188719"/>
            <a:ext cx="347472" cy="347472"/>
          </a:xfrm>
          <a:prstGeom prst="rect">
            <a:avLst/>
          </a:prstGeom>
        </p:spPr>
      </p:pic>
      <p:pic>
        <p:nvPicPr>
          <p:cNvPr id="10" name="Picture 9" descr="pin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916168"/>
            <a:ext cx="347472" cy="347472"/>
          </a:xfrm>
          <a:prstGeom prst="rect">
            <a:avLst/>
          </a:prstGeom>
        </p:spPr>
      </p:pic>
      <p:pic>
        <p:nvPicPr>
          <p:cNvPr id="11" name="Picture 10" descr="pin_pur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9920" y="5916168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The Web of Fields: Multi-Disciplinary Convergence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10360152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1188719"/>
            <a:ext cx="347472" cy="347472"/>
          </a:xfrm>
          <a:prstGeom prst="rect">
            <a:avLst/>
          </a:prstGeom>
        </p:spPr>
      </p:pic>
      <p:pic>
        <p:nvPicPr>
          <p:cNvPr id="9" name="Picture 8" descr="pin_yel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0" y="1188719"/>
            <a:ext cx="347472" cy="347472"/>
          </a:xfrm>
          <a:prstGeom prst="rect">
            <a:avLst/>
          </a:prstGeom>
        </p:spPr>
      </p:pic>
      <p:pic>
        <p:nvPicPr>
          <p:cNvPr id="10" name="Picture 9" descr="pin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1560" y="5916168"/>
            <a:ext cx="347472" cy="347472"/>
          </a:xfrm>
          <a:prstGeom prst="rect">
            <a:avLst/>
          </a:prstGeom>
        </p:spPr>
      </p:pic>
      <p:pic>
        <p:nvPicPr>
          <p:cNvPr id="11" name="Picture 10" descr="pin_pur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9920" y="5916168"/>
            <a:ext cx="347472" cy="347472"/>
          </a:xfrm>
          <a:prstGeom prst="rect">
            <a:avLst/>
          </a:prstGeom>
        </p:spPr>
      </p:pic>
      <p:pic>
        <p:nvPicPr>
          <p:cNvPr id="12" name="Picture 11" descr="venn_diagr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08556" y="1371600"/>
            <a:ext cx="8371839" cy="47091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Continuous Spectroscopy: The Chemical Barcode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5669280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5304" y="905255"/>
            <a:ext cx="347472" cy="347472"/>
          </a:xfrm>
          <a:prstGeom prst="rect">
            <a:avLst/>
          </a:prstGeom>
        </p:spPr>
      </p:pic>
      <p:pic>
        <p:nvPicPr>
          <p:cNvPr id="9" name="Picture 8" descr="continuous_spectroscop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2246127"/>
            <a:ext cx="5303520" cy="29601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58000" y="1051560"/>
            <a:ext cx="4389120" cy="534924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B7285"/>
                </a:solidFill>
              </a:defRPr>
            </a:pPr>
            <a:r>
              <a:t>Diagnostic Absorption Physics</a:t>
            </a:r>
          </a:p>
          <a:p>
            <a:pPr>
              <a:spcBef>
                <a:spcPts val="600"/>
              </a:spcBef>
              <a:defRPr sz="1000"/>
            </a:pPr>
            <a:r>
              <a:t>• Narrow-Band Continuity: 425 contiguous 5nm bands capture narrow chemical absorption doublets invisible to 10-band multispectral sensors.</a:t>
            </a:r>
          </a:p>
          <a:p>
            <a:pPr>
              <a:spcBef>
                <a:spcPts val="600"/>
              </a:spcBef>
              <a:defRPr sz="1000"/>
            </a:pPr>
            <a:r>
              <a:t>• Chlorophyll Red-Edge (680–740nm): Slope inflection accurately isolates plant vigor from background soil reflectance.</a:t>
            </a:r>
          </a:p>
          <a:p>
            <a:pPr>
              <a:spcBef>
                <a:spcPts val="600"/>
              </a:spcBef>
              <a:defRPr sz="1000"/>
            </a:pPr>
            <a:r>
              <a:t>• Cellular Water Absorption (970nm &amp; 1200nm): Quantifies canopy equivalent water thickness before visual wilting occurs.</a:t>
            </a:r>
          </a:p>
          <a:p>
            <a:pPr>
              <a:spcBef>
                <a:spcPts val="600"/>
              </a:spcBef>
              <a:defRPr sz="1000"/>
            </a:pPr>
            <a:r>
              <a:t>• Protein &amp; Nitrogen (2100–2300nm): Direct molecular absorption bonds (C-H, N-H) enable precise leaf nitrogen profiling.</a:t>
            </a:r>
          </a:p>
        </p:txBody>
      </p:sp>
      <p:pic>
        <p:nvPicPr>
          <p:cNvPr id="11" name="Picture 10" descr="pin_yel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905255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Hyperspectral Data Cube &amp; Canopy Radiative Transfer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5669280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5304" y="905255"/>
            <a:ext cx="347472" cy="347472"/>
          </a:xfrm>
          <a:prstGeom prst="rect">
            <a:avLst/>
          </a:prstGeom>
        </p:spPr>
      </p:pic>
      <p:pic>
        <p:nvPicPr>
          <p:cNvPr id="9" name="Picture 8" descr="photon_pinball_cu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2246127"/>
            <a:ext cx="5303520" cy="29601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58000" y="1051560"/>
            <a:ext cx="4389120" cy="534924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D9480F"/>
                </a:solidFill>
              </a:defRPr>
            </a:pPr>
            <a:r>
              <a:t>Canopy Radiative Transfer Breakdown</a:t>
            </a:r>
          </a:p>
          <a:p>
            <a:pPr>
              <a:spcBef>
                <a:spcPts val="600"/>
              </a:spcBef>
              <a:defRPr sz="1000"/>
            </a:pPr>
            <a:r>
              <a:t>• Multi-Bounce Scattering: Sunlight enters intercropped canopies and ricochets between leaves and soil before sensor reception.</a:t>
            </a:r>
          </a:p>
          <a:p>
            <a:pPr>
              <a:spcBef>
                <a:spcPts val="600"/>
              </a:spcBef>
              <a:defRPr sz="1000"/>
            </a:pPr>
            <a:r>
              <a:t>• Failure of Linear Unmixing: Classical GIS tools (LSU/FCLS) assume linear mixing, leading to severe error (RMSE &gt; 0.15) in multi-tier crops.</a:t>
            </a:r>
          </a:p>
          <a:p>
            <a:pPr>
              <a:spcBef>
                <a:spcPts val="600"/>
              </a:spcBef>
              <a:defRPr sz="1000"/>
            </a:pPr>
            <a:r>
              <a:t>• 3D Data Cube Structure: Two spatial dimensions (X, Y) and one dense spectral dimension (lambda) capture continuous physical interactions.</a:t>
            </a:r>
          </a:p>
          <a:p>
            <a:pPr>
              <a:spcBef>
                <a:spcPts val="600"/>
              </a:spcBef>
              <a:defRPr sz="1000"/>
            </a:pPr>
            <a:r>
              <a:t>• Physics-Informed Modeling: Incorporating radiative transfer physics ensures our model decodes non-linear mixture dynamics.</a:t>
            </a:r>
          </a:p>
        </p:txBody>
      </p:sp>
      <p:pic>
        <p:nvPicPr>
          <p:cNvPr id="11" name="Picture 10" descr="pin_yel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905255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Indian Landmass Hyperspectral Coverage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5669280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5304" y="905255"/>
            <a:ext cx="347472" cy="347472"/>
          </a:xfrm>
          <a:prstGeom prst="rect">
            <a:avLst/>
          </a:prstGeom>
        </p:spPr>
      </p:pic>
      <p:pic>
        <p:nvPicPr>
          <p:cNvPr id="9" name="Picture 8" descr="india_hsi_cover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2234564"/>
            <a:ext cx="5303520" cy="298323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58000" y="1051560"/>
            <a:ext cx="4389120" cy="534924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300">
                <a:solidFill>
                  <a:srgbClr val="0B7285"/>
                </a:solidFill>
              </a:defRPr>
            </a:pPr>
            <a:r>
              <a:t>Sensor Heterogeneity &amp; Coverage</a:t>
            </a:r>
          </a:p>
          <a:p>
            <a:pPr>
              <a:spcBef>
                <a:spcPts val="600"/>
              </a:spcBef>
              <a:defRPr sz="1000"/>
            </a:pPr>
            <a:r>
              <a:t>• AVIRIS-NG India (Airborne): 425 spectral channels (380–2510nm) at 4–8m GSD across key agro-ecological zones (Punjab, Gujarat, Andhra Pradesh).</a:t>
            </a:r>
          </a:p>
          <a:p>
            <a:pPr>
              <a:spcBef>
                <a:spcPts val="600"/>
              </a:spcBef>
              <a:defRPr sz="1000"/>
            </a:pPr>
            <a:r>
              <a:t>• NASA EMIT (ISS Spaceborne): 285 spectral channels (381–2493nm) at 60m GSD providing regional mineral and canopy observations.</a:t>
            </a:r>
          </a:p>
          <a:p>
            <a:pPr>
              <a:spcBef>
                <a:spcPts val="600"/>
              </a:spcBef>
              <a:defRPr sz="1000"/>
            </a:pPr>
            <a:r>
              <a:t>• ISRO HysIS (Orbital Satellite): 220 spectral channels across VNIR/SWIR providing national continuous monitoring.</a:t>
            </a:r>
          </a:p>
          <a:p>
            <a:pPr>
              <a:spcBef>
                <a:spcPts val="600"/>
              </a:spcBef>
              <a:defRPr sz="1000"/>
            </a:pPr>
            <a:r>
              <a:t>• Resolution Harmonization: Requires specialized handling to bridge Ground Sample Distances from 4m airborne to 60m orbital scales.</a:t>
            </a:r>
          </a:p>
        </p:txBody>
      </p:sp>
      <p:pic>
        <p:nvPicPr>
          <p:cNvPr id="11" name="Picture 10" descr="pin_cy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8824" y="905255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Automated Preprocessing Pipeline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10360152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905255"/>
            <a:ext cx="347472" cy="347472"/>
          </a:xfrm>
          <a:prstGeom prst="rect">
            <a:avLst/>
          </a:prstGeom>
        </p:spPr>
      </p:pic>
      <p:pic>
        <p:nvPicPr>
          <p:cNvPr id="9" name="Picture 8" descr="preprocessing_pip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972733"/>
            <a:ext cx="9966960" cy="350689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Empirical Baseline Benchmarking &amp; Failure Modes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5303520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r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424" y="905255"/>
            <a:ext cx="347472" cy="347472"/>
          </a:xfrm>
          <a:prstGeom prst="rect">
            <a:avLst/>
          </a:prstGeom>
        </p:spPr>
      </p:pic>
      <p:pic>
        <p:nvPicPr>
          <p:cNvPr id="9" name="Picture 8" descr="domain_shift_collap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2244852"/>
            <a:ext cx="4937760" cy="29626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92240" y="1051560"/>
            <a:ext cx="4782312" cy="534924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250">
                <a:solidFill>
                  <a:srgbClr val="C92A2A"/>
                </a:solidFill>
              </a:defRPr>
            </a:pPr>
            <a:r>
              <a:t>Empirical Benchmark Results (Testbed Evaluation)</a:t>
            </a:r>
          </a:p>
          <a:p>
            <a:pPr>
              <a:spcBef>
                <a:spcPts val="400"/>
              </a:spcBef>
              <a:defRPr sz="1000"/>
            </a:pPr>
            <a:r>
              <a:t>• Random Forest (100 Trees): 85.4% → 57.8% (Drop: -27.6%)</a:t>
            </a:r>
          </a:p>
          <a:p>
            <a:pPr>
              <a:spcBef>
                <a:spcPts val="400"/>
              </a:spcBef>
              <a:defRPr sz="1000"/>
            </a:pPr>
            <a:r>
              <a:t>• SVM (RBF Kernel): 84.6% → 62.2% (Drop: -22.4%)</a:t>
            </a:r>
          </a:p>
          <a:p>
            <a:pPr>
              <a:spcBef>
                <a:spcPts val="400"/>
              </a:spcBef>
              <a:defRPr sz="1000"/>
            </a:pPr>
            <a:r>
              <a:t>• 3D-CNN (Hamida et al.): 90.8% → 56.4% (Drop: -34.4%)</a:t>
            </a:r>
          </a:p>
          <a:p>
            <a:pPr>
              <a:spcBef>
                <a:spcPts val="400"/>
              </a:spcBef>
              <a:defRPr sz="1000"/>
            </a:pPr>
            <a:r>
              <a:t>• HybridSN (3D-2D CNN): 92.4% → 55.1% (Drop: -37.3%)</a:t>
            </a:r>
          </a:p>
          <a:p>
            <a:pPr>
              <a:spcBef>
                <a:spcPts val="400"/>
              </a:spcBef>
              <a:defRPr sz="1000"/>
            </a:pPr>
            <a:r>
              <a:t>• Spectral Transformer: 93.5% → 60.8% (Drop: -32.7%)</a:t>
            </a:r>
          </a:p>
          <a:p>
            <a:pPr>
              <a:spcBef>
                <a:spcPts val="400"/>
              </a:spcBef>
              <a:defRPr sz="1000"/>
            </a:pPr>
            <a:r>
              <a:t>• SpectralGPT (Hong et al.): 93.5% → 61.5% (Drop: -32.0%)</a:t>
            </a:r>
          </a:p>
          <a:p>
            <a:pPr>
              <a:spcBef>
                <a:spcPts val="400"/>
              </a:spcBef>
              <a:defRPr sz="1000"/>
            </a:pPr>
            <a:r>
              <a:t>• HyperSIGMA (Wang et al.): 93.8% → 64.2% (Drop: -29.6%)</a:t>
            </a:r>
          </a:p>
          <a:p>
            <a:pPr>
              <a:spcBef>
                <a:spcPts val="1200"/>
              </a:spcBef>
              <a:defRPr b="1" sz="1050">
                <a:solidFill>
                  <a:srgbClr val="D9480F"/>
                </a:solidFill>
              </a:defRPr>
            </a:pPr>
            <a:r>
              <a:t>Key Finding: Standard AI models suffer a 22%–37% accuracy collapse when transferred to fragmented Indian smallholder plots.</a:t>
            </a:r>
          </a:p>
        </p:txBody>
      </p:sp>
      <p:pic>
        <p:nvPicPr>
          <p:cNvPr id="11" name="Picture 10" descr="pin_yell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9660" y="905255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The Need for BharatSpectral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4937760" cy="251460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b="1" sz="1200">
                <a:solidFill>
                  <a:srgbClr val="0B7285"/>
                </a:solidFill>
              </a:defRPr>
            </a:pPr>
            <a:r>
              <a:t>🌾 Sub-Pixel Spatial Fragmentation</a:t>
            </a:r>
          </a:p>
          <a:p>
            <a:pPr>
              <a:spcBef>
                <a:spcPts val="300"/>
              </a:spcBef>
              <a:defRPr sz="950"/>
            </a:pPr>
            <a:r>
              <a:t>• Indian smallholdings average 0.5 to 2.0 hectares with multi-crop intercropping.</a:t>
            </a:r>
          </a:p>
          <a:p>
            <a:pPr>
              <a:spcBef>
                <a:spcPts val="300"/>
              </a:spcBef>
              <a:defRPr sz="950"/>
            </a:pPr>
            <a:r>
              <a:t>• Western models trained on 40-hectare monocultures blur plot boundaries and collapse on mixed pixels.</a:t>
            </a:r>
          </a:p>
          <a:p>
            <a:pPr>
              <a:spcBef>
                <a:spcPts val="300"/>
              </a:spcBef>
              <a:defRPr sz="950"/>
            </a:pPr>
            <a:r>
              <a:t>• Requires foundation representations explicitly conditioned on mixture entropy.</a:t>
            </a:r>
          </a:p>
        </p:txBody>
      </p:sp>
      <p:pic>
        <p:nvPicPr>
          <p:cNvPr id="8" name="Picture 7" descr="pin_cy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9544" y="905255"/>
            <a:ext cx="347472" cy="3474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051560"/>
            <a:ext cx="4937760" cy="251460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b="1" sz="1200">
                <a:solidFill>
                  <a:srgbClr val="0B7285"/>
                </a:solidFill>
              </a:defRPr>
            </a:pPr>
            <a:r>
              <a:t>🛰️ Multi-Sensor Heterogeneity</a:t>
            </a:r>
          </a:p>
          <a:p>
            <a:pPr>
              <a:spcBef>
                <a:spcPts val="300"/>
              </a:spcBef>
              <a:defRPr sz="950"/>
            </a:pPr>
            <a:r>
              <a:t>• Indian EO relies on 425-band AVIRIS-NG, 285-band EMIT, and 220-band HysIS.</a:t>
            </a:r>
          </a:p>
          <a:p>
            <a:pPr>
              <a:spcBef>
                <a:spcPts val="300"/>
              </a:spcBef>
              <a:defRPr sz="950"/>
            </a:pPr>
            <a:r>
              <a:t>• Ground Sample Distances vary widely from 4m airborne to 60m satellite imagery.</a:t>
            </a:r>
          </a:p>
          <a:p>
            <a:pPr>
              <a:spcBef>
                <a:spcPts val="300"/>
              </a:spcBef>
              <a:defRPr sz="950"/>
            </a:pPr>
            <a:r>
              <a:t>• Demands a sensor-agnostic tokenizer rather than fixed single-sensor architectures.</a:t>
            </a:r>
          </a:p>
        </p:txBody>
      </p:sp>
      <p:pic>
        <p:nvPicPr>
          <p:cNvPr id="10" name="Picture 9" descr="pin_gree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504" y="905255"/>
            <a:ext cx="347472" cy="34747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14400" y="3886200"/>
            <a:ext cx="4937760" cy="251460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b="1" sz="1200">
                <a:solidFill>
                  <a:srgbClr val="6741D9"/>
                </a:solidFill>
              </a:defRPr>
            </a:pPr>
            <a:r>
              <a:t>🔬 Subtle Biochemical Absorption</a:t>
            </a:r>
          </a:p>
          <a:p>
            <a:pPr>
              <a:spcBef>
                <a:spcPts val="300"/>
              </a:spcBef>
              <a:defRPr sz="950"/>
            </a:pPr>
            <a:r>
              <a:t>• Critical features (nitrogen at 2.2μm, soil carbon, moisture) exhibit &lt; 5% reflectance.</a:t>
            </a:r>
          </a:p>
          <a:p>
            <a:pPr>
              <a:spcBef>
                <a:spcPts val="300"/>
              </a:spcBef>
              <a:defRPr sz="950"/>
            </a:pPr>
            <a:r>
              <a:t>• Standard MSE loss functions overlook subtle diagnostic dips in favor of bright soil.</a:t>
            </a:r>
          </a:p>
          <a:p>
            <a:pPr>
              <a:spcBef>
                <a:spcPts val="300"/>
              </a:spcBef>
              <a:defRPr sz="950"/>
            </a:pPr>
            <a:r>
              <a:t>• Requires reflectance-normalized loss formulations to preserve diagnostic depth.</a:t>
            </a:r>
          </a:p>
        </p:txBody>
      </p:sp>
      <p:pic>
        <p:nvPicPr>
          <p:cNvPr id="12" name="Picture 11" descr="pin_purp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9544" y="3739896"/>
            <a:ext cx="347472" cy="34747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09360" y="3886200"/>
            <a:ext cx="4937760" cy="251460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defRPr b="1" sz="1200">
                <a:solidFill>
                  <a:srgbClr val="6741D9"/>
                </a:solidFill>
              </a:defRPr>
            </a:pPr>
            <a:r>
              <a:t>🌐 Democratized Edge Accessibility</a:t>
            </a:r>
          </a:p>
          <a:p>
            <a:pPr>
              <a:spcBef>
                <a:spcPts val="300"/>
              </a:spcBef>
              <a:defRPr sz="950"/>
            </a:pPr>
            <a:r>
              <a:t>• Hyperspectral analytics are currently locked behind $10,000/seat desktop GIS licenses.</a:t>
            </a:r>
          </a:p>
          <a:p>
            <a:pPr>
              <a:spcBef>
                <a:spcPts val="300"/>
              </a:spcBef>
              <a:defRPr sz="950"/>
            </a:pPr>
            <a:r>
              <a:t>• Smallholder farmers require zero-cost, sub-second browser inference (SSI).</a:t>
            </a:r>
          </a:p>
          <a:p>
            <a:pPr>
              <a:spcBef>
                <a:spcPts val="300"/>
              </a:spcBef>
              <a:defRPr sz="950"/>
            </a:pPr>
            <a:r>
              <a:t>• Bridges the gap between research models and direct vernacular advisories.</a:t>
            </a:r>
          </a:p>
        </p:txBody>
      </p:sp>
      <p:pic>
        <p:nvPicPr>
          <p:cNvPr id="14" name="Picture 13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4504" y="373989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Project Progression: Phases 1 to 5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10360152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905255"/>
            <a:ext cx="347472" cy="347472"/>
          </a:xfrm>
          <a:prstGeom prst="rect">
            <a:avLst/>
          </a:prstGeom>
        </p:spPr>
      </p:pic>
      <p:pic>
        <p:nvPicPr>
          <p:cNvPr id="9" name="Picture 8" descr="project_tim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1590402"/>
            <a:ext cx="9966960" cy="427155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Operational Scenario 1: The Invisible Hunger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10360152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905255"/>
            <a:ext cx="347472" cy="347472"/>
          </a:xfrm>
          <a:prstGeom prst="rect">
            <a:avLst/>
          </a:prstGeom>
        </p:spPr>
      </p:pic>
      <p:pic>
        <p:nvPicPr>
          <p:cNvPr id="9" name="Picture 8" descr="comic1_invisible_hun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6392" y="1234440"/>
            <a:ext cx="8928735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Operational Scenario 2: The Canal Lifeline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10360152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905255"/>
            <a:ext cx="347472" cy="347472"/>
          </a:xfrm>
          <a:prstGeom prst="rect">
            <a:avLst/>
          </a:prstGeom>
        </p:spPr>
      </p:pic>
      <p:pic>
        <p:nvPicPr>
          <p:cNvPr id="9" name="Picture 8" descr="comic2_canal_lifeli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6392" y="1234440"/>
            <a:ext cx="8928735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Operational Scenario 3: 14-Day Drought Warning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10360152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ye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905255"/>
            <a:ext cx="347472" cy="347472"/>
          </a:xfrm>
          <a:prstGeom prst="rect">
            <a:avLst/>
          </a:prstGeom>
        </p:spPr>
      </p:pic>
      <p:pic>
        <p:nvPicPr>
          <p:cNvPr id="9" name="Picture 8" descr="comic3_drought_warn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6392" y="1234440"/>
            <a:ext cx="8928735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Operational Scenario 4: Salinity Encroachment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10360152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in_purp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905255"/>
            <a:ext cx="347472" cy="347472"/>
          </a:xfrm>
          <a:prstGeom prst="rect">
            <a:avLst/>
          </a:prstGeom>
        </p:spPr>
      </p:pic>
      <p:pic>
        <p:nvPicPr>
          <p:cNvPr id="9" name="Picture 8" descr="comic4_salinity_defen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6392" y="1234440"/>
            <a:ext cx="8928735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Key Literature References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14400" y="1051560"/>
            <a:ext cx="4983480" cy="5349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b="1" sz="1300">
                <a:solidFill>
                  <a:srgbClr val="0B7285"/>
                </a:solidFill>
              </a:defRPr>
            </a:pPr>
            <a:r>
              <a:t>Foundational Hyperspectral Transformers</a:t>
            </a:r>
          </a:p>
          <a:p>
            <a:pPr>
              <a:spcBef>
                <a:spcPts val="1200"/>
              </a:spcBef>
              <a:defRPr b="1" sz="1050">
                <a:solidFill>
                  <a:srgbClr val="6741D9"/>
                </a:solidFill>
              </a:defRPr>
            </a:pPr>
            <a:r>
              <a:t>• SpectralGPT: Spectral Foundation Model</a:t>
            </a:r>
          </a:p>
          <a:p>
            <a:pPr>
              <a:defRPr sz="950">
                <a:solidFill>
                  <a:srgbClr val="2A231B"/>
                </a:solidFill>
              </a:defRPr>
            </a:pPr>
            <a:r>
              <a:t>   Hong, D., Zhang, B., Li, X., Chanussot, J., &amp; Zhu, X. X. (2024).</a:t>
            </a:r>
          </a:p>
          <a:p>
            <a:pPr>
              <a:defRPr i="1" sz="900">
                <a:solidFill>
                  <a:srgbClr val="6D5F52"/>
                </a:solidFill>
              </a:defRPr>
            </a:pPr>
            <a:r>
              <a:t>   IEEE Transactions on Pattern Analysis and Machine Intelligence (TPAMI), 46(8), 5412–5427.</a:t>
            </a:r>
          </a:p>
          <a:p>
            <a:pPr>
              <a:spcBef>
                <a:spcPts val="1200"/>
              </a:spcBef>
              <a:defRPr b="1" sz="1050">
                <a:solidFill>
                  <a:srgbClr val="6741D9"/>
                </a:solidFill>
              </a:defRPr>
            </a:pPr>
            <a:r>
              <a:t>• SS-MAE: Spectral-Spatial Masked Autoencoder</a:t>
            </a:r>
          </a:p>
          <a:p>
            <a:pPr>
              <a:defRPr sz="950">
                <a:solidFill>
                  <a:srgbClr val="2A231B"/>
                </a:solidFill>
              </a:defRPr>
            </a:pPr>
            <a:r>
              <a:t>   Lin, Y., Gao, L., Zheng, X., &amp; Zhang, B. (2024).</a:t>
            </a:r>
          </a:p>
          <a:p>
            <a:pPr>
              <a:defRPr i="1" sz="900">
                <a:solidFill>
                  <a:srgbClr val="6D5F52"/>
                </a:solidFill>
              </a:defRPr>
            </a:pPr>
            <a:r>
              <a:t>   IEEE Transactions on Geoscience and Remote Sensing (TGRS), 62, 1–14.</a:t>
            </a:r>
          </a:p>
          <a:p>
            <a:pPr>
              <a:spcBef>
                <a:spcPts val="1200"/>
              </a:spcBef>
              <a:defRPr b="1" sz="1050">
                <a:solidFill>
                  <a:srgbClr val="6741D9"/>
                </a:solidFill>
              </a:defRPr>
            </a:pPr>
            <a:r>
              <a:t>• HyperSIGMA: Scalable Foundation Model for Remote Sensing</a:t>
            </a:r>
          </a:p>
          <a:p>
            <a:pPr>
              <a:defRPr sz="950">
                <a:solidFill>
                  <a:srgbClr val="2A231B"/>
                </a:solidFill>
              </a:defRPr>
            </a:pPr>
            <a:r>
              <a:t>   Wang, X., Zhang, L., &amp; Chanussot, J. (2024).</a:t>
            </a:r>
          </a:p>
          <a:p>
            <a:pPr>
              <a:defRPr i="1" sz="900">
                <a:solidFill>
                  <a:srgbClr val="6D5F52"/>
                </a:solidFill>
              </a:defRPr>
            </a:pPr>
            <a:r>
              <a:t>   IEEE Transactions on Geoscience and Remote Sensing (TGRS), 62, 1–16.</a:t>
            </a:r>
          </a:p>
        </p:txBody>
      </p:sp>
      <p:pic>
        <p:nvPicPr>
          <p:cNvPr id="8" name="Picture 7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404" y="905255"/>
            <a:ext cx="347472" cy="3474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051560"/>
            <a:ext cx="5010912" cy="534924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defRPr b="1" sz="1300">
                <a:solidFill>
                  <a:srgbClr val="D9480F"/>
                </a:solidFill>
              </a:defRPr>
            </a:pPr>
            <a:r>
              <a:t>Scale Invariance &amp; Spectroscopic Unmixing</a:t>
            </a:r>
          </a:p>
          <a:p>
            <a:pPr>
              <a:spcBef>
                <a:spcPts val="1200"/>
              </a:spcBef>
              <a:defRPr b="1" sz="1050">
                <a:solidFill>
                  <a:srgbClr val="2B8A3E"/>
                </a:solidFill>
              </a:defRPr>
            </a:pPr>
            <a:r>
              <a:t>• Scale-MAE: High-Resolution Masked Autoencoders</a:t>
            </a:r>
          </a:p>
          <a:p>
            <a:pPr>
              <a:defRPr sz="950">
                <a:solidFill>
                  <a:srgbClr val="2A231B"/>
                </a:solidFill>
              </a:defRPr>
            </a:pPr>
            <a:r>
              <a:t>   Reed, C. J., Metzger, R., Srinivas, A., Darrell, T., &amp; Keutzer, K. (2023).</a:t>
            </a:r>
          </a:p>
          <a:p>
            <a:pPr>
              <a:defRPr i="1" sz="900">
                <a:solidFill>
                  <a:srgbClr val="6D5F52"/>
                </a:solidFill>
              </a:defRPr>
            </a:pPr>
            <a:r>
              <a:t>   IEEE/CVF Conference on Computer Vision and Pattern Recognition (ICCV), 14288–14299.</a:t>
            </a:r>
          </a:p>
          <a:p>
            <a:pPr>
              <a:spcBef>
                <a:spcPts val="1200"/>
              </a:spcBef>
              <a:defRPr b="1" sz="1050">
                <a:solidFill>
                  <a:srgbClr val="2B8A3E"/>
                </a:solidFill>
              </a:defRPr>
            </a:pPr>
            <a:r>
              <a:t>• HybridSN: 3D-2D CNN Feature Hierarchy for HSI</a:t>
            </a:r>
          </a:p>
          <a:p>
            <a:pPr>
              <a:defRPr sz="950">
                <a:solidFill>
                  <a:srgbClr val="2A231B"/>
                </a:solidFill>
              </a:defRPr>
            </a:pPr>
            <a:r>
              <a:t>   Roy, S. K., Krishna, G., Dubey, S. R., &amp; Chaudhuri, B. B. (2020).</a:t>
            </a:r>
          </a:p>
          <a:p>
            <a:pPr>
              <a:defRPr i="1" sz="900">
                <a:solidFill>
                  <a:srgbClr val="6D5F52"/>
                </a:solidFill>
              </a:defRPr>
            </a:pPr>
            <a:r>
              <a:t>   IEEE Geoscience and Remote Sensing Letters (GRSL), 17(8), 1352–1356.</a:t>
            </a:r>
          </a:p>
          <a:p>
            <a:pPr>
              <a:spcBef>
                <a:spcPts val="1200"/>
              </a:spcBef>
              <a:defRPr b="1" sz="1050">
                <a:solidFill>
                  <a:srgbClr val="2B8A3E"/>
                </a:solidFill>
              </a:defRPr>
            </a:pPr>
            <a:r>
              <a:t>• Spectral Unmixing: Algorithms &amp; Physical Principles</a:t>
            </a:r>
          </a:p>
          <a:p>
            <a:pPr>
              <a:defRPr sz="950">
                <a:solidFill>
                  <a:srgbClr val="2A231B"/>
                </a:solidFill>
              </a:defRPr>
            </a:pPr>
            <a:r>
              <a:t>   Keshava, N., &amp; Mustard, J. F. (2002).</a:t>
            </a:r>
          </a:p>
          <a:p>
            <a:pPr>
              <a:defRPr i="1" sz="900">
                <a:solidFill>
                  <a:srgbClr val="6D5F52"/>
                </a:solidFill>
              </a:defRPr>
            </a:pPr>
            <a:r>
              <a:t>   IEEE Signal Processing Magazine, 19(1), 44–57.</a:t>
            </a:r>
          </a:p>
        </p:txBody>
      </p:sp>
      <p:pic>
        <p:nvPicPr>
          <p:cNvPr id="10" name="Picture 9" descr="pin_yel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905255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r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975207" y="292608"/>
            <a:ext cx="10241280" cy="621792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73152"/>
          <a:lstStyle/>
          <a:p>
            <a:pPr algn="ctr">
              <a:defRPr sz="1650" b="1">
                <a:solidFill>
                  <a:srgbClr val="0B7285"/>
                </a:solidFill>
                <a:latin typeface="Trebuchet MS"/>
              </a:defRPr>
            </a:pPr>
            <a:r>
              <a:t>BharatSpectral: Democratized Spectral Intelligence</a:t>
            </a:r>
          </a:p>
        </p:txBody>
      </p:sp>
      <p:pic>
        <p:nvPicPr>
          <p:cNvPr id="4" name="Picture 3" descr="tape_str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2887" y="164592"/>
            <a:ext cx="1645920" cy="329184"/>
          </a:xfrm>
          <a:prstGeom prst="rect">
            <a:avLst/>
          </a:prstGeom>
        </p:spPr>
      </p:pic>
      <p:pic>
        <p:nvPicPr>
          <p:cNvPr id="5" name="Picture 4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7" y="164592"/>
            <a:ext cx="347472" cy="347472"/>
          </a:xfrm>
          <a:prstGeom prst="rect">
            <a:avLst/>
          </a:prstGeom>
        </p:spPr>
      </p:pic>
      <p:pic>
        <p:nvPicPr>
          <p:cNvPr id="6" name="Picture 5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40415" y="164592"/>
            <a:ext cx="347472" cy="347472"/>
          </a:xfrm>
          <a:prstGeom prst="rect">
            <a:avLst/>
          </a:prstGeom>
        </p:spPr>
      </p:pic>
      <p:pic>
        <p:nvPicPr>
          <p:cNvPr id="7" name="Picture 6" descr="thank_you_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3496" y="1051560"/>
            <a:ext cx="8061960" cy="2103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914400" y="3337560"/>
            <a:ext cx="4983480" cy="3063240"/>
          </a:xfrm>
          <a:prstGeom prst="roundRect">
            <a:avLst/>
          </a:prstGeom>
          <a:solidFill>
            <a:srgbClr val="FFFDF5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b="1" sz="1300">
                <a:solidFill>
                  <a:srgbClr val="0B7285"/>
                </a:solidFill>
              </a:defRPr>
            </a:pPr>
            <a:r>
              <a:t>Project Research Team</a:t>
            </a:r>
          </a:p>
          <a:p>
            <a:pPr>
              <a:spcBef>
                <a:spcPts val="400"/>
              </a:spcBef>
              <a:defRPr b="1" sz="1000">
                <a:solidFill>
                  <a:srgbClr val="2A231B"/>
                </a:solidFill>
              </a:defRPr>
            </a:pPr>
            <a:r>
              <a:t>• Priyanshu</a:t>
            </a:r>
          </a:p>
          <a:p>
            <a:pPr>
              <a:defRPr sz="850">
                <a:solidFill>
                  <a:srgbClr val="6D5F52"/>
                </a:solidFill>
              </a:defRPr>
            </a:pPr>
            <a:r>
              <a:t>   Lead Researcher &amp; System Architect</a:t>
            </a:r>
          </a:p>
          <a:p>
            <a:pPr>
              <a:spcBef>
                <a:spcPts val="400"/>
              </a:spcBef>
              <a:defRPr b="1" sz="1000">
                <a:solidFill>
                  <a:srgbClr val="2A231B"/>
                </a:solidFill>
              </a:defRPr>
            </a:pPr>
            <a:r>
              <a:t>• Team Member 2</a:t>
            </a:r>
          </a:p>
          <a:p>
            <a:pPr>
              <a:defRPr sz="850">
                <a:solidFill>
                  <a:srgbClr val="6D5F52"/>
                </a:solidFill>
              </a:defRPr>
            </a:pPr>
            <a:r>
              <a:t>   Machine Learning &amp; Preprocessing Pipeline</a:t>
            </a:r>
          </a:p>
          <a:p>
            <a:pPr>
              <a:spcBef>
                <a:spcPts val="400"/>
              </a:spcBef>
              <a:defRPr b="1" sz="1000">
                <a:solidFill>
                  <a:srgbClr val="2A231B"/>
                </a:solidFill>
              </a:defRPr>
            </a:pPr>
            <a:r>
              <a:t>• Team Member 3</a:t>
            </a:r>
          </a:p>
          <a:p>
            <a:pPr>
              <a:defRPr sz="850">
                <a:solidFill>
                  <a:srgbClr val="6D5F52"/>
                </a:solidFill>
              </a:defRPr>
            </a:pPr>
            <a:r>
              <a:t>   Radiative Physics &amp; Empirical Benchmarking</a:t>
            </a:r>
          </a:p>
          <a:p>
            <a:pPr>
              <a:spcBef>
                <a:spcPts val="400"/>
              </a:spcBef>
              <a:defRPr b="1" sz="1000">
                <a:solidFill>
                  <a:srgbClr val="2A231B"/>
                </a:solidFill>
              </a:defRPr>
            </a:pPr>
            <a:r>
              <a:t>• Team Member 4</a:t>
            </a:r>
          </a:p>
          <a:p>
            <a:pPr>
              <a:defRPr sz="850">
                <a:solidFill>
                  <a:srgbClr val="6D5F52"/>
                </a:solidFill>
              </a:defRPr>
            </a:pPr>
            <a:r>
              <a:t>   Geospatial Edge WebGIS &amp; Evaluation</a:t>
            </a:r>
          </a:p>
        </p:txBody>
      </p:sp>
      <p:pic>
        <p:nvPicPr>
          <p:cNvPr id="9" name="Picture 8" descr="pin_cya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2404" y="3191256"/>
            <a:ext cx="347472" cy="34747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63640" y="3337560"/>
            <a:ext cx="5010912" cy="3063240"/>
          </a:xfrm>
          <a:prstGeom prst="roundRect">
            <a:avLst/>
          </a:prstGeom>
          <a:solidFill>
            <a:srgbClr val="F4ECDC"/>
          </a:solidFill>
          <a:ln w="19050">
            <a:solidFill>
              <a:srgbClr val="D8C8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/>
          <a:lstStyle/>
          <a:p>
            <a:pPr algn="ctr">
              <a:defRPr b="1" sz="1300">
                <a:solidFill>
                  <a:srgbClr val="6741D9"/>
                </a:solidFill>
              </a:defRPr>
            </a:pPr>
            <a:r>
              <a:t>Project Guidance &amp; Supervision</a:t>
            </a:r>
          </a:p>
          <a:p>
            <a:pPr>
              <a:spcBef>
                <a:spcPts val="800"/>
              </a:spcBef>
              <a:defRPr sz="950">
                <a:solidFill>
                  <a:srgbClr val="6D5F52"/>
                </a:solidFill>
              </a:defRPr>
            </a:pPr>
            <a:r>
              <a:t>Under the Esteemed Guidance of:</a:t>
            </a:r>
          </a:p>
          <a:p>
            <a:pPr>
              <a:defRPr b="1" sz="1200">
                <a:solidFill>
                  <a:srgbClr val="0B7285"/>
                </a:solidFill>
              </a:defRPr>
            </a:pPr>
            <a:r>
              <a:t>Dr. / Prof. [Project Supervisor Name]</a:t>
            </a:r>
          </a:p>
          <a:p>
            <a:pPr>
              <a:defRPr sz="950">
                <a:solidFill>
                  <a:srgbClr val="2A231B"/>
                </a:solidFill>
              </a:defRPr>
            </a:pPr>
            <a:r>
              <a:t>Department of Computer Science &amp; Engineering</a:t>
            </a:r>
          </a:p>
          <a:p>
            <a:pPr>
              <a:spcBef>
                <a:spcPts val="1000"/>
              </a:spcBef>
              <a:defRPr b="1" sz="950">
                <a:solidFill>
                  <a:srgbClr val="2B8A3E"/>
                </a:solidFill>
              </a:defRPr>
            </a:pPr>
            <a:r>
              <a:t>Open-Source DSSI Initiative • Built for Indian Earth Observation</a:t>
            </a:r>
          </a:p>
          <a:p>
            <a:pPr>
              <a:defRPr i="1" sz="900">
                <a:solidFill>
                  <a:srgbClr val="6D5F52"/>
                </a:solidFill>
              </a:defRPr>
            </a:pPr>
            <a:r>
              <a:t>Open for Committee Review &amp; Defense Discussion</a:t>
            </a:r>
          </a:p>
        </p:txBody>
      </p:sp>
      <p:pic>
        <p:nvPicPr>
          <p:cNvPr id="11" name="Picture 10" descr="pin_purp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5360" y="3191256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