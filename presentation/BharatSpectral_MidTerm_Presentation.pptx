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9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11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0.png"/><Relationship Id="rId6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97280" y="411480"/>
            <a:ext cx="9966960" cy="164592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B7285"/>
                </a:solidFill>
                <a:latin typeface="Trebuchet MS"/>
              </a:defRPr>
            </a:pPr>
            <a:r>
              <a:t>BHARATSPECTRAL: DEMOCRATIZED SPECTRAL-SEMANTIC INTELLIGENCE</a:t>
            </a:r>
          </a:p>
          <a:p>
            <a:pPr algn="ctr">
              <a:defRPr sz="1200" b="1">
                <a:solidFill>
                  <a:srgbClr val="2A231B"/>
                </a:solidFill>
                <a:latin typeface="Calibri"/>
              </a:defRPr>
            </a:pPr>
            <a:r>
              <a:t>Physics-Informed Hyperspectral Foundation Model &amp; Serverless WebGIS Public Infrastructure for Indian Earth Observation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265176"/>
            <a:ext cx="1371600" cy="329184"/>
          </a:xfrm>
          <a:prstGeom prst="rect">
            <a:avLst/>
          </a:prstGeom>
        </p:spPr>
      </p:pic>
      <p:pic>
        <p:nvPicPr>
          <p:cNvPr id="5" name="Picture 4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024" y="265176"/>
            <a:ext cx="347472" cy="347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97280" y="2240280"/>
            <a:ext cx="4846320" cy="411480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in_yel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6704" y="2093976"/>
            <a:ext cx="347472" cy="347472"/>
          </a:xfrm>
          <a:prstGeom prst="rect">
            <a:avLst/>
          </a:prstGeom>
        </p:spPr>
      </p:pic>
      <p:pic>
        <p:nvPicPr>
          <p:cNvPr id="8" name="Picture 7" descr="spectrum_contra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0160" y="2423160"/>
            <a:ext cx="4480560" cy="3474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2240280"/>
            <a:ext cx="4846320" cy="4114800"/>
          </a:xfrm>
          <a:prstGeom prst="roundRect">
            <a:avLst/>
          </a:prstGeom>
          <a:solidFill>
            <a:srgbClr val="F4ECDC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B8A3E"/>
                </a:solidFill>
                <a:latin typeface="Trebuchet MS"/>
              </a:defRPr>
            </a:pPr>
            <a:r>
              <a:t>Dual-Pillar National Innovation Framework</a:t>
            </a:r>
          </a:p>
          <a:p>
            <a:pPr>
              <a:defRPr sz="1100">
                <a:solidFill>
                  <a:srgbClr val="2A231B"/>
                </a:solidFill>
                <a:latin typeface="Calibri"/>
              </a:defRPr>
            </a:pPr>
            <a:r>
              <a:t>• Research Pillar: BharatSpectral-MAE Foundation Model (SSPE, RNRL, SHT, AAM, ECSA, Ph-LoRA, FASU).</a:t>
            </a:r>
          </a:p>
          <a:p>
            <a:pPr>
              <a:defRPr sz="1100">
                <a:solidFill>
                  <a:srgbClr val="2A231B"/>
                </a:solidFill>
                <a:latin typeface="Calibri"/>
              </a:defRPr>
            </a:pPr>
            <a:r>
              <a:t>• Product Pillar: Serverless Edge WebGIS on Cloudflare R2 + Workers for 140 million smallholders.</a:t>
            </a:r>
          </a:p>
          <a:p>
            <a:pPr>
              <a:defRPr sz="1100">
                <a:solidFill>
                  <a:srgbClr val="2A231B"/>
                </a:solidFill>
                <a:latin typeface="Calibri"/>
              </a:defRPr>
            </a:pPr>
            <a:r>
              <a:t>• Datasets Grounded: AVIRIS-NG India (425b), ISRO HysIS (220b), NASA EMIT (285b).</a:t>
            </a:r>
          </a:p>
          <a:p>
            <a:pPr>
              <a:defRPr sz="1100">
                <a:solidFill>
                  <a:srgbClr val="2A231B"/>
                </a:solidFill>
                <a:latin typeface="Calibri"/>
              </a:defRPr>
            </a:pPr>
            <a:r>
              <a:t>• Empirical Grounding: 22%-37% domain shift drop quantified; traditional GIS tools audited.</a:t>
            </a:r>
          </a:p>
          <a:p>
            <a:pPr>
              <a:defRPr sz="1100">
                <a:solidFill>
                  <a:srgbClr val="2A231B"/>
                </a:solidFill>
                <a:latin typeface="Calibri"/>
              </a:defRPr>
            </a:pPr>
            <a:r>
              <a:t>• National Mission Alignment: IndiaAI Mission &amp; Geospatial Digital Public Infrastructure (DPI).</a:t>
            </a:r>
          </a:p>
        </p:txBody>
      </p:sp>
      <p:pic>
        <p:nvPicPr>
          <p:cNvPr id="10" name="Picture 9" descr="pin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67344" y="2093976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84124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defRPr sz="1600" b="1">
                <a:solidFill>
                  <a:srgbClr val="0B7285"/>
                </a:solidFill>
                <a:latin typeface="Trebuchet MS"/>
              </a:defRPr>
            </a:pPr>
            <a:r>
              <a:t>Engineering Objectives: Capstone 7th Semester Scope</a:t>
            </a:r>
          </a:p>
          <a:p>
            <a:pPr algn="ctr">
              <a:defRPr sz="1050">
                <a:solidFill>
                  <a:srgbClr val="6D5F52"/>
                </a:solidFill>
                <a:latin typeface="Calibri"/>
              </a:defRPr>
            </a:pPr>
            <a:r>
              <a:t>Formal milestone delivery evaluated against real Indian agricultural flightlines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47472"/>
          </a:xfrm>
          <a:prstGeom prst="rect">
            <a:avLst/>
          </a:prstGeom>
        </p:spPr>
      </p:pic>
      <p:pic>
        <p:nvPicPr>
          <p:cNvPr id="5" name="Picture 4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164592"/>
            <a:ext cx="347472" cy="347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14400" y="1371600"/>
            <a:ext cx="3291840" cy="493776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B7285"/>
                </a:solidFill>
              </a:defRPr>
            </a:pPr>
            <a:r>
              <a:t>PILLAR 1: CURATE &amp; STANDARDIZE</a:t>
            </a:r>
          </a:p>
          <a:p>
            <a:pPr>
              <a:defRPr sz="1050"/>
            </a:pPr>
            <a:r>
              <a:t>• Harmonize AVIRIS-NG India (425b), ISRO HysIS (220b), and NASA EMIT (285b).</a:t>
            </a:r>
          </a:p>
          <a:p>
            <a:pPr>
              <a:defRPr sz="1050"/>
            </a:pPr>
            <a:r>
              <a:t>• Apply 6S radiative atmospheric water vapor correction (1.4μm &amp; 1.9μm masking).</a:t>
            </a:r>
          </a:p>
          <a:p>
            <a:pPr>
              <a:defRPr sz="1050"/>
            </a:pPr>
            <a:r>
              <a:t>• Standardize smallholder spatial patch generator.</a:t>
            </a:r>
          </a:p>
          <a:p>
            <a:pPr>
              <a:defRPr sz="1050"/>
            </a:pPr>
            <a:r>
              <a:t>• [STATUS: PHASE 1 COMPLETE]</a:t>
            </a:r>
          </a:p>
        </p:txBody>
      </p:sp>
      <p:pic>
        <p:nvPicPr>
          <p:cNvPr id="7" name="Picture 6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6584" y="1225296"/>
            <a:ext cx="347472" cy="34747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443984" y="1371600"/>
            <a:ext cx="3291840" cy="493776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D9480F"/>
                </a:solidFill>
              </a:defRPr>
            </a:pPr>
            <a:r>
              <a:t>PILLAR 2: BENCHMARK &amp; DIAGNOSE</a:t>
            </a:r>
          </a:p>
          <a:p>
            <a:pPr>
              <a:defRPr sz="1050"/>
            </a:pPr>
            <a:r>
              <a:t>• Train RF, SVM-RBF, HybridSN (3D-2D), 3D-CNN, and Spectral Transformer.</a:t>
            </a:r>
          </a:p>
          <a:p>
            <a:pPr>
              <a:defRPr sz="1050"/>
            </a:pPr>
            <a:r>
              <a:t>• Quantify catastrophic 22%-37% OA drop under Indian domain shift.</a:t>
            </a:r>
          </a:p>
          <a:p>
            <a:pPr>
              <a:defRPr sz="1050"/>
            </a:pPr>
            <a:r>
              <a:t>• Audit physical GIS spectroscopic tools (SAM, LSU/FCLS) under non-linear canopy scattering.</a:t>
            </a:r>
          </a:p>
          <a:p>
            <a:pPr>
              <a:defRPr sz="1050"/>
            </a:pPr>
            <a:r>
              <a:t>• [STATUS: PHASE 2 COMPLETE]</a:t>
            </a:r>
          </a:p>
        </p:txBody>
      </p:sp>
      <p:pic>
        <p:nvPicPr>
          <p:cNvPr id="9" name="Picture 8" descr="pin_yel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6168" y="1225296"/>
            <a:ext cx="347472" cy="3474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982712" y="1371600"/>
            <a:ext cx="3291840" cy="493776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6741D9"/>
                </a:solidFill>
              </a:defRPr>
            </a:pPr>
            <a:r>
              <a:t>PILLAR 3: ARCHITECT NOVELTY</a:t>
            </a:r>
          </a:p>
          <a:p>
            <a:pPr>
              <a:defRPr sz="1050"/>
            </a:pPr>
            <a:r>
              <a:t>• Formalize BharatSpectral-MAE: SSPE, RNRL, SHT, AAM, ECSA, Ph-LoRA, FASU.</a:t>
            </a:r>
          </a:p>
          <a:p>
            <a:pPr>
              <a:defRPr sz="1050"/>
            </a:pPr>
            <a:r>
              <a:t>• Bridge optical quantum physics with Transformer attention heads.</a:t>
            </a:r>
          </a:p>
          <a:p>
            <a:pPr>
              <a:defRPr sz="1050"/>
            </a:pPr>
            <a:r>
              <a:t>• Prepare high-performance GPU pretraining pipeline for 8th semester scaling.</a:t>
            </a:r>
          </a:p>
          <a:p>
            <a:pPr>
              <a:defRPr sz="1050"/>
            </a:pPr>
            <a:r>
              <a:t>• [STATUS: PHASE 3 ACTIVE FRONTIER]</a:t>
            </a:r>
          </a:p>
        </p:txBody>
      </p:sp>
      <p:pic>
        <p:nvPicPr>
          <p:cNvPr id="11" name="Picture 10" descr="pin_purp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4896" y="1225296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84124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defRPr sz="1600" b="1">
                <a:solidFill>
                  <a:srgbClr val="0B7285"/>
                </a:solidFill>
                <a:latin typeface="Trebuchet MS"/>
              </a:defRPr>
            </a:pPr>
            <a:r>
              <a:t>Continuous Spectroscopy: What Each Spectral Band Captures</a:t>
            </a:r>
          </a:p>
          <a:p>
            <a:pPr algn="ctr">
              <a:defRPr sz="1050">
                <a:solidFill>
                  <a:srgbClr val="6D5F52"/>
                </a:solidFill>
                <a:latin typeface="Calibri"/>
              </a:defRPr>
            </a:pPr>
            <a:r>
              <a:t>Narrow-band molecular absorption physics across VNIR, Red-Edge, NIR, and SWIR regimes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47472"/>
          </a:xfrm>
          <a:prstGeom prst="rect">
            <a:avLst/>
          </a:prstGeom>
        </p:spPr>
      </p:pic>
      <p:pic>
        <p:nvPicPr>
          <p:cNvPr id="5" name="Picture 4" descr="pin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164592"/>
            <a:ext cx="347472" cy="347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14400" y="1371600"/>
            <a:ext cx="5486400" cy="493776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in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3864" y="1225296"/>
            <a:ext cx="347472" cy="347472"/>
          </a:xfrm>
          <a:prstGeom prst="rect">
            <a:avLst/>
          </a:prstGeom>
        </p:spPr>
      </p:pic>
      <p:pic>
        <p:nvPicPr>
          <p:cNvPr id="8" name="Picture 7" descr="continuous_spectroscop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1645920"/>
            <a:ext cx="5120640" cy="4297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675120" y="1371600"/>
            <a:ext cx="4572000" cy="4937760"/>
          </a:xfrm>
          <a:prstGeom prst="roundRect">
            <a:avLst/>
          </a:prstGeom>
          <a:solidFill>
            <a:srgbClr val="F4ECDC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B7285"/>
                </a:solidFill>
              </a:defRPr>
            </a:pPr>
            <a:r>
              <a:t>Diagnostic Absorption Bands &amp; Innovations</a:t>
            </a:r>
          </a:p>
          <a:p>
            <a:pPr>
              <a:defRPr sz="1000"/>
            </a:pPr>
            <a:r>
              <a:t>• 400–700 nm (VNIR): Plant pigment absorption (Chlorophyll a/b, Carotenoids).</a:t>
            </a:r>
          </a:p>
          <a:p>
            <a:pPr>
              <a:defRPr sz="1000"/>
            </a:pPr>
            <a:r>
              <a:t>• 700–750 nm (Red-Edge): Steep cellular structure cliff. [NOTE: SHT] Spectral Harmonic Tokenizer allocates fine tokens here.</a:t>
            </a:r>
          </a:p>
          <a:p>
            <a:pPr>
              <a:defRPr sz="1000"/>
            </a:pPr>
            <a:r>
              <a:t>• 970 &amp; 1200 nm (NIR): Cellular liquid Equivalent Water Thickness (EWT).</a:t>
            </a:r>
          </a:p>
          <a:p>
            <a:pPr>
              <a:defRPr sz="1000"/>
            </a:pPr>
            <a:r>
              <a:t>• 1.4 &amp; 1.9 μm: Atmospheric water vapor zero-transmission gaps. [NOTE: AAM] Atmospheric Absorption Masking.</a:t>
            </a:r>
          </a:p>
          <a:p>
            <a:pPr>
              <a:defRPr sz="1000"/>
            </a:pPr>
            <a:r>
              <a:t>• 2.1–2.3 μm (SWIR): Organic protein nitrogen, soil organic carbon (SOC), clay mineral lattices.</a:t>
            </a:r>
          </a:p>
        </p:txBody>
      </p:sp>
      <p:pic>
        <p:nvPicPr>
          <p:cNvPr id="10" name="Picture 9" descr="pin_cy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7384" y="1225296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84124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defRPr sz="1600" b="1">
                <a:solidFill>
                  <a:srgbClr val="0B7285"/>
                </a:solidFill>
                <a:latin typeface="Trebuchet MS"/>
              </a:defRPr>
            </a:pPr>
            <a:r>
              <a:t>The 'Pinball Machine' Physics: Non-Linear Scattering &amp; 3D Pixels</a:t>
            </a:r>
          </a:p>
          <a:p>
            <a:pPr algn="ctr">
              <a:defRPr sz="1050">
                <a:solidFill>
                  <a:srgbClr val="6D5F52"/>
                </a:solidFill>
                <a:latin typeface="Calibri"/>
              </a:defRPr>
            </a:pPr>
            <a:r>
              <a:t>Why multi-tier Indian smallholder canopies require 3D tensor foundation representations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47472"/>
          </a:xfrm>
          <a:prstGeom prst="rect">
            <a:avLst/>
          </a:prstGeom>
        </p:spPr>
      </p:pic>
      <p:pic>
        <p:nvPicPr>
          <p:cNvPr id="5" name="Picture 4" descr="pin_pur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164592"/>
            <a:ext cx="347472" cy="347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14400" y="1371600"/>
            <a:ext cx="5669280" cy="493776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in_pur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5304" y="1225296"/>
            <a:ext cx="347472" cy="347472"/>
          </a:xfrm>
          <a:prstGeom prst="rect">
            <a:avLst/>
          </a:prstGeom>
        </p:spPr>
      </p:pic>
      <p:pic>
        <p:nvPicPr>
          <p:cNvPr id="8" name="Picture 7" descr="photon_pinball_cu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1645920"/>
            <a:ext cx="5303520" cy="4297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58000" y="1371600"/>
            <a:ext cx="4389120" cy="4937760"/>
          </a:xfrm>
          <a:prstGeom prst="roundRect">
            <a:avLst/>
          </a:prstGeom>
          <a:solidFill>
            <a:srgbClr val="F4ECDC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D9480F"/>
                </a:solidFill>
              </a:defRPr>
            </a:pPr>
            <a:r>
              <a:t>Canopy Radiative Transfer Breakdown</a:t>
            </a:r>
          </a:p>
          <a:p>
            <a:pPr>
              <a:defRPr sz="1000"/>
            </a:pPr>
            <a:r>
              <a:t>• Multi-Bounce Scattering: Sunlight enters intercropped sorghum + pigeon pea and ricochets between leaves and soil before sensor reception.</a:t>
            </a:r>
          </a:p>
          <a:p>
            <a:pPr>
              <a:defRPr sz="1000"/>
            </a:pPr>
            <a:r>
              <a:t>• Failure of Linear Unmixing: Classical GIS (LSU/FCLS) assumes linear superposition. Ricochets cause non-linear cross-talk (RMSE &gt; 0.15).</a:t>
            </a:r>
          </a:p>
          <a:p>
            <a:pPr>
              <a:defRPr sz="1000"/>
            </a:pPr>
            <a:r>
              <a:t>• [NOTE: SSPE] Scale-Spectral Positional Encoding: Jointly encodes GSD (4–60m), bandwidth, and mixture entropy.</a:t>
            </a:r>
          </a:p>
          <a:p>
            <a:pPr>
              <a:defRPr sz="1000"/>
            </a:pPr>
            <a:r>
              <a:t>• [NOTE: FASU] Foundation-Augmented Spectral Unmixing: Decomposes complex non-linear canopy mixtures using pretrained foundation representations.</a:t>
            </a:r>
          </a:p>
        </p:txBody>
      </p:sp>
      <p:pic>
        <p:nvPicPr>
          <p:cNvPr id="10" name="Picture 9" descr="pin_yell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8824" y="1225296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84124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defRPr sz="1600" b="1">
                <a:solidFill>
                  <a:srgbClr val="0B7285"/>
                </a:solidFill>
                <a:latin typeface="Trebuchet MS"/>
              </a:defRPr>
            </a:pPr>
            <a:r>
              <a:t>The Intersection of Human Knowledge Systems</a:t>
            </a:r>
          </a:p>
          <a:p>
            <a:pPr algn="ctr">
              <a:defRPr sz="1050">
                <a:solidFill>
                  <a:srgbClr val="6D5F52"/>
                </a:solidFill>
                <a:latin typeface="Calibri"/>
              </a:defRPr>
            </a:pPr>
            <a:r>
              <a:t>Synthesizing optical spectroscopy physics, foundation AI architectures, and open WebGIS public infrastructure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47472"/>
          </a:xfrm>
          <a:prstGeom prst="rect">
            <a:avLst/>
          </a:prstGeom>
        </p:spPr>
      </p:pic>
      <p:pic>
        <p:nvPicPr>
          <p:cNvPr id="5" name="Picture 4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164592"/>
            <a:ext cx="347472" cy="347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14400" y="1371600"/>
            <a:ext cx="5486400" cy="493776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3864" y="1225296"/>
            <a:ext cx="347472" cy="347472"/>
          </a:xfrm>
          <a:prstGeom prst="rect">
            <a:avLst/>
          </a:prstGeom>
        </p:spPr>
      </p:pic>
      <p:pic>
        <p:nvPicPr>
          <p:cNvPr id="8" name="Picture 7" descr="venn_diagr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1645920"/>
            <a:ext cx="5120640" cy="4297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675120" y="1371600"/>
            <a:ext cx="4572000" cy="4937760"/>
          </a:xfrm>
          <a:prstGeom prst="roundRect">
            <a:avLst/>
          </a:prstGeom>
          <a:solidFill>
            <a:srgbClr val="F4ECDC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2B8A3E"/>
                </a:solidFill>
              </a:defRPr>
            </a:pPr>
            <a:r>
              <a:t>Disciplinary Convergence</a:t>
            </a:r>
          </a:p>
          <a:p>
            <a:pPr>
              <a:defRPr sz="1000"/>
            </a:pPr>
            <a:r>
              <a:t>• Spectroscopy Physics: Provides ground truth absorption laws, radiative transfer equations, and atmospheric absorption gap constraints.</a:t>
            </a:r>
          </a:p>
          <a:p>
            <a:pPr>
              <a:defRPr sz="1000"/>
            </a:pPr>
            <a:r>
              <a:t>• Foundation Model AI: Provides self-attention capacity, masked autoencoding pretraining, and non-linear parameter-efficient adaptation (LoRA).</a:t>
            </a:r>
          </a:p>
          <a:p>
            <a:pPr>
              <a:defRPr sz="1000"/>
            </a:pPr>
            <a:r>
              <a:t>• WebGIS Public Infrastructure: Eliminates cloud costs through Cloudflare R2 zero-egress storage and browser-edge ONNX WASM inference.</a:t>
            </a:r>
          </a:p>
          <a:p>
            <a:pPr>
              <a:defRPr sz="1000"/>
            </a:pPr>
            <a:r>
              <a:t>• Core Convergence: BharatSpectral (DSSI) delivers democratized biochemical intelligence directly to citizen devices.</a:t>
            </a:r>
          </a:p>
        </p:txBody>
      </p:sp>
      <p:pic>
        <p:nvPicPr>
          <p:cNvPr id="10" name="Picture 9" descr="pin_gre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7384" y="1225296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84124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defRPr sz="1600" b="1">
                <a:solidFill>
                  <a:srgbClr val="0B7285"/>
                </a:solidFill>
                <a:latin typeface="Trebuchet MS"/>
              </a:defRPr>
            </a:pPr>
            <a:r>
              <a:t>Open Hyperspectral Corpus over the Indian Landmass</a:t>
            </a:r>
          </a:p>
          <a:p>
            <a:pPr algn="ctr">
              <a:defRPr sz="1050">
                <a:solidFill>
                  <a:srgbClr val="6D5F52"/>
                </a:solidFill>
                <a:latin typeface="Calibri"/>
              </a:defRPr>
            </a:pPr>
            <a:r>
              <a:t>Phase 1 Complete • Harmonizing airborne AVIRIS-NG India, spaceborne ISRO HysIS, and NASA EMIT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47472"/>
          </a:xfrm>
          <a:prstGeom prst="rect">
            <a:avLst/>
          </a:prstGeom>
        </p:spPr>
      </p:pic>
      <p:pic>
        <p:nvPicPr>
          <p:cNvPr id="5" name="Picture 4" descr="pin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164592"/>
            <a:ext cx="347472" cy="347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14400" y="1371600"/>
            <a:ext cx="5486400" cy="493776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in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3864" y="1225296"/>
            <a:ext cx="347472" cy="347472"/>
          </a:xfrm>
          <a:prstGeom prst="rect">
            <a:avLst/>
          </a:prstGeom>
        </p:spPr>
      </p:pic>
      <p:pic>
        <p:nvPicPr>
          <p:cNvPr id="8" name="Picture 7" descr="india_hsi_cover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1645920"/>
            <a:ext cx="5120640" cy="4297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675120" y="1371600"/>
            <a:ext cx="4572000" cy="4937760"/>
          </a:xfrm>
          <a:prstGeom prst="roundRect">
            <a:avLst/>
          </a:prstGeom>
          <a:solidFill>
            <a:srgbClr val="F4ECDC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6741D9"/>
                </a:solidFill>
              </a:defRPr>
            </a:pPr>
            <a:r>
              <a:t>Corpus Harmonization &amp; Status</a:t>
            </a:r>
          </a:p>
          <a:p>
            <a:pPr>
              <a:defRPr sz="1000"/>
            </a:pPr>
            <a:r>
              <a:t>• AVIRIS-NG India: 425 continuous bands (380–2510 nm), 4–8m GSD flightlines over Anand (Gujarat), Godavari Basin (AP), and Punjab tracts.</a:t>
            </a:r>
          </a:p>
          <a:p>
            <a:pPr>
              <a:defRPr sz="1000"/>
            </a:pPr>
            <a:r>
              <a:t>• ISRO HysIS: 220 bands (VNIR/SWIR), 30m spaceborne GSD.</a:t>
            </a:r>
          </a:p>
          <a:p>
            <a:pPr>
              <a:defRPr sz="1000"/>
            </a:pPr>
            <a:r>
              <a:t>• NASA EMIT: 285 bands (381–2493 nm), 60m GSD on the International Space Station.</a:t>
            </a:r>
          </a:p>
          <a:p>
            <a:pPr>
              <a:defRPr sz="1000"/>
            </a:pPr>
            <a:r>
              <a:t>• [NOTE: RNRL] Reflectance-Normalized Reconstruction Loss: Prevents gradients from collapsing in low-reflectance SWIR bands (&lt;5% reflectance).</a:t>
            </a:r>
          </a:p>
          <a:p>
            <a:pPr>
              <a:defRPr sz="1000"/>
            </a:pPr>
            <a:r>
              <a:t>• Deliverable Status: Phase 1 Fully Completed (1.2 TB curated corpus).</a:t>
            </a:r>
          </a:p>
        </p:txBody>
      </p:sp>
      <p:pic>
        <p:nvPicPr>
          <p:cNvPr id="10" name="Picture 9" descr="pin_purp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7384" y="1225296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84124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defRPr sz="1600" b="1">
                <a:solidFill>
                  <a:srgbClr val="0B7285"/>
                </a:solidFill>
                <a:latin typeface="Trebuchet MS"/>
              </a:defRPr>
            </a:pPr>
            <a:r>
              <a:t>Preprocessing &amp; Physical Normalization Pipeline</a:t>
            </a:r>
          </a:p>
          <a:p>
            <a:pPr algn="ctr">
              <a:defRPr sz="1050">
                <a:solidFill>
                  <a:srgbClr val="6D5F52"/>
                </a:solidFill>
                <a:latin typeface="Calibri"/>
              </a:defRPr>
            </a:pPr>
            <a:r>
              <a:t>Phase 1 Detail • Converting raw Bhoonidhi/STAC binary radiance files into standardized analysis tensors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47472"/>
          </a:xfrm>
          <a:prstGeom prst="rect">
            <a:avLst/>
          </a:prstGeom>
        </p:spPr>
      </p:pic>
      <p:pic>
        <p:nvPicPr>
          <p:cNvPr id="5" name="Picture 4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164592"/>
            <a:ext cx="347472" cy="347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14400" y="1371600"/>
            <a:ext cx="10332720" cy="493776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024" y="1225296"/>
            <a:ext cx="347472" cy="347472"/>
          </a:xfrm>
          <a:prstGeom prst="rect">
            <a:avLst/>
          </a:prstGeom>
        </p:spPr>
      </p:pic>
      <p:pic>
        <p:nvPicPr>
          <p:cNvPr id="8" name="Picture 7" descr="preprocessing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1554480"/>
            <a:ext cx="99669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84124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defRPr sz="1600" b="1">
                <a:solidFill>
                  <a:srgbClr val="0B7285"/>
                </a:solidFill>
                <a:latin typeface="Trebuchet MS"/>
              </a:defRPr>
            </a:pPr>
            <a:r>
              <a:t>Benchmarking Previous Attempts: Empirical Proof of Need</a:t>
            </a:r>
          </a:p>
          <a:p>
            <a:pPr algn="ctr">
              <a:defRPr sz="1050">
                <a:solidFill>
                  <a:srgbClr val="6D5F52"/>
                </a:solidFill>
                <a:latin typeface="Calibri"/>
              </a:defRPr>
            </a:pPr>
            <a:r>
              <a:t>Phase 2 Evaluation • Grounded proof that Western HSI models suffer catastrophic collapse in India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47472"/>
          </a:xfrm>
          <a:prstGeom prst="rect">
            <a:avLst/>
          </a:prstGeom>
        </p:spPr>
      </p:pic>
      <p:pic>
        <p:nvPicPr>
          <p:cNvPr id="5" name="Picture 4" descr="pin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164592"/>
            <a:ext cx="347472" cy="347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14400" y="1371600"/>
            <a:ext cx="5303520" cy="493776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in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2424" y="1225296"/>
            <a:ext cx="347472" cy="347472"/>
          </a:xfrm>
          <a:prstGeom prst="rect">
            <a:avLst/>
          </a:prstGeom>
        </p:spPr>
      </p:pic>
      <p:pic>
        <p:nvPicPr>
          <p:cNvPr id="8" name="Picture 7" descr="domain_shift_collap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1645920"/>
            <a:ext cx="4937760" cy="4297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92240" y="1371600"/>
            <a:ext cx="4754880" cy="4937760"/>
          </a:xfrm>
          <a:prstGeom prst="roundRect">
            <a:avLst/>
          </a:prstGeom>
          <a:solidFill>
            <a:srgbClr val="F4ECDC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C92A2A"/>
                </a:solidFill>
              </a:defRPr>
            </a:pPr>
            <a:r>
              <a:t>Empirical Benchmark Results (Pi 5 Testbed)</a:t>
            </a:r>
          </a:p>
          <a:p>
            <a:pPr>
              <a:defRPr sz="950"/>
            </a:pPr>
            <a:r>
              <a:t>• Random Forest: 85.4% -&gt; 57.8% (Drop: 27.6%)</a:t>
            </a:r>
          </a:p>
          <a:p>
            <a:pPr>
              <a:defRPr sz="950"/>
            </a:pPr>
            <a:r>
              <a:t>• SVM (RBF Kernel): 84.6% -&gt; 62.2% (Drop: 22.4%)</a:t>
            </a:r>
          </a:p>
          <a:p>
            <a:pPr>
              <a:defRPr sz="950"/>
            </a:pPr>
            <a:r>
              <a:t>• HybridSN (3D-2D CNN): 92.4% -&gt; 55.1% (Drop: 37.3%)</a:t>
            </a:r>
          </a:p>
          <a:p>
            <a:pPr>
              <a:defRPr sz="950"/>
            </a:pPr>
            <a:r>
              <a:t>• 3D-CNN (Hamida et al.): 90.8% -&gt; 56.4% (Drop: 34.4%)</a:t>
            </a:r>
          </a:p>
          <a:p>
            <a:pPr>
              <a:defRPr sz="950"/>
            </a:pPr>
            <a:r>
              <a:t>• Spectral Transformer: 93.5% -&gt; 60.8% (Drop: 32.7%)</a:t>
            </a:r>
          </a:p>
          <a:p>
            <a:pPr>
              <a:defRPr sz="950"/>
            </a:pPr>
            <a:r>
              <a:t>• The Indian Pines Fallacy: Canonical 1992 Indiana monoculture models collapse under Indian smallholder fragmentation (1.08 ha) and intercropping.</a:t>
            </a:r>
          </a:p>
          <a:p>
            <a:pPr>
              <a:defRPr sz="950"/>
            </a:pPr>
            <a:r>
              <a:t>• Status: Phase 2 Empirical Evaluation Completed.</a:t>
            </a:r>
          </a:p>
        </p:txBody>
      </p:sp>
      <p:pic>
        <p:nvPicPr>
          <p:cNvPr id="10" name="Picture 9" descr="pin_yell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5944" y="1225296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84124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defRPr sz="1600" b="1">
                <a:solidFill>
                  <a:srgbClr val="0B7285"/>
                </a:solidFill>
                <a:latin typeface="Trebuchet MS"/>
              </a:defRPr>
            </a:pPr>
            <a:r>
              <a:t>Why Existing Methods Fail in Indian Smallholder Ecosystems</a:t>
            </a:r>
          </a:p>
          <a:p>
            <a:pPr algn="ctr">
              <a:defRPr sz="1050">
                <a:solidFill>
                  <a:srgbClr val="6D5F52"/>
                </a:solidFill>
                <a:latin typeface="Calibri"/>
              </a:defRPr>
            </a:pPr>
            <a:r>
              <a:t>Phase 2 Complete • Physical GIS tools (SAM, LSU in ENVI/QGIS) vs unconstrained deep learning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47472"/>
          </a:xfrm>
          <a:prstGeom prst="rect">
            <a:avLst/>
          </a:prstGeom>
        </p:spPr>
      </p:pic>
      <p:pic>
        <p:nvPicPr>
          <p:cNvPr id="5" name="Picture 4" descr="pin_yel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164592"/>
            <a:ext cx="347472" cy="347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14400" y="1371600"/>
            <a:ext cx="5303520" cy="493776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in_yel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2424" y="1225296"/>
            <a:ext cx="347472" cy="347472"/>
          </a:xfrm>
          <a:prstGeom prst="rect">
            <a:avLst/>
          </a:prstGeom>
        </p:spPr>
      </p:pic>
      <p:pic>
        <p:nvPicPr>
          <p:cNvPr id="8" name="Picture 7" descr="gis_linear_unmixing_residu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1554480"/>
            <a:ext cx="4937760" cy="2286000"/>
          </a:xfrm>
          <a:prstGeom prst="rect">
            <a:avLst/>
          </a:prstGeom>
        </p:spPr>
      </p:pic>
      <p:pic>
        <p:nvPicPr>
          <p:cNvPr id="9" name="Picture 8" descr="sam_magnitude_confus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931920"/>
            <a:ext cx="4937760" cy="21945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92240" y="1371600"/>
            <a:ext cx="4754880" cy="4937760"/>
          </a:xfrm>
          <a:prstGeom prst="roundRect">
            <a:avLst/>
          </a:prstGeom>
          <a:solidFill>
            <a:srgbClr val="F4ECDC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B7285"/>
                </a:solidFill>
              </a:defRPr>
            </a:pPr>
            <a:r>
              <a:t>The Dual Physical &amp; AI Breakdown</a:t>
            </a:r>
          </a:p>
          <a:p>
            <a:pPr>
              <a:defRPr sz="950"/>
            </a:pPr>
            <a:r>
              <a:t>• GIS SAM Baseline: Cosine angle ignores absolute reflectance magnitude, causing a 36.4% false match rate (confuses shadow/moisture with crop stress).</a:t>
            </a:r>
          </a:p>
          <a:p>
            <a:pPr>
              <a:defRPr sz="950"/>
            </a:pPr>
            <a:r>
              <a:t>• GIS Linear Spectral Unmixing (LSU): Produces high residual error (RMSE = 0.2775 on boundaries; 54.2% pixels fail threshold) due to non-linear canopy scattering.</a:t>
            </a:r>
          </a:p>
          <a:p>
            <a:pPr>
              <a:defRPr sz="950"/>
            </a:pPr>
            <a:r>
              <a:t>• [NOTE: ECSA] Endmember-Constrained Self-Attention: Regularizes Transformer attention weights using spectroscopic unmixing priors.</a:t>
            </a:r>
          </a:p>
          <a:p>
            <a:pPr>
              <a:defRPr sz="950"/>
            </a:pPr>
            <a:r>
              <a:t>• [NOTE: Ph-LoRA] Phenology-Conditioned LoRA: Modulates adapter weights by Kharif, Rabi, and Zaid phenological stage embeddings.</a:t>
            </a:r>
          </a:p>
        </p:txBody>
      </p:sp>
      <p:pic>
        <p:nvPicPr>
          <p:cNvPr id="11" name="Picture 10" descr="pin_cy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5944" y="1225296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84124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defRPr sz="1600" b="1">
                <a:solidFill>
                  <a:srgbClr val="0B7285"/>
                </a:solidFill>
                <a:latin typeface="Trebuchet MS"/>
              </a:defRPr>
            </a:pPr>
            <a:r>
              <a:t>Project Progression: What is Done and The Road Ahead</a:t>
            </a:r>
          </a:p>
          <a:p>
            <a:pPr algn="ctr">
              <a:defRPr sz="1050">
                <a:solidFill>
                  <a:srgbClr val="6D5F52"/>
                </a:solidFill>
                <a:latin typeface="Calibri"/>
              </a:defRPr>
            </a:pPr>
            <a:r>
              <a:t>Systematic milestone completion across 7th semester and active roadmap for 8th semester scaling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47472"/>
          </a:xfrm>
          <a:prstGeom prst="rect">
            <a:avLst/>
          </a:prstGeom>
        </p:spPr>
      </p:pic>
      <p:pic>
        <p:nvPicPr>
          <p:cNvPr id="5" name="Picture 4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164592"/>
            <a:ext cx="347472" cy="347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14400" y="1371600"/>
            <a:ext cx="10332720" cy="493776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024" y="1225296"/>
            <a:ext cx="347472" cy="347472"/>
          </a:xfrm>
          <a:prstGeom prst="rect">
            <a:avLst/>
          </a:prstGeom>
        </p:spPr>
      </p:pic>
      <p:pic>
        <p:nvPicPr>
          <p:cNvPr id="8" name="Picture 7" descr="project_tim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1554480"/>
            <a:ext cx="99669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84124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defRPr sz="1600" b="1">
                <a:solidFill>
                  <a:srgbClr val="0B7285"/>
                </a:solidFill>
                <a:latin typeface="Trebuchet MS"/>
              </a:defRPr>
            </a:pPr>
            <a:r>
              <a:t>The 7 Architectural Innovations: Physics-Informed Foundation Model</a:t>
            </a:r>
          </a:p>
          <a:p>
            <a:pPr algn="ctr">
              <a:defRPr sz="1050">
                <a:solidFill>
                  <a:srgbClr val="6D5F52"/>
                </a:solidFill>
                <a:latin typeface="Calibri"/>
              </a:defRPr>
            </a:pPr>
            <a:r>
              <a:t>Formalizing BharatSpectral-MAE: Engineered specifically for Indian smallholder Earth Observation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47472"/>
          </a:xfrm>
          <a:prstGeom prst="rect">
            <a:avLst/>
          </a:prstGeom>
        </p:spPr>
      </p:pic>
      <p:pic>
        <p:nvPicPr>
          <p:cNvPr id="5" name="Picture 4" descr="pin_pur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164592"/>
            <a:ext cx="347472" cy="347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14400" y="1371600"/>
            <a:ext cx="10332720" cy="493776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in_pur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024" y="1225296"/>
            <a:ext cx="347472" cy="347472"/>
          </a:xfrm>
          <a:prstGeom prst="rect">
            <a:avLst/>
          </a:prstGeom>
        </p:spPr>
      </p:pic>
      <p:pic>
        <p:nvPicPr>
          <p:cNvPr id="8" name="Picture 7" descr="seven_innovations_flow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1554480"/>
            <a:ext cx="99669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84124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defRPr sz="1600" b="1">
                <a:solidFill>
                  <a:srgbClr val="0B7285"/>
                </a:solidFill>
                <a:latin typeface="Trebuchet MS"/>
              </a:defRPr>
            </a:pPr>
            <a:r>
              <a:t>Actionable Yield: Multi-Domain Biochemical Diagnostics</a:t>
            </a:r>
          </a:p>
          <a:p>
            <a:pPr algn="ctr">
              <a:defRPr sz="1050">
                <a:solidFill>
                  <a:srgbClr val="6D5F52"/>
                </a:solidFill>
                <a:latin typeface="Calibri"/>
              </a:defRPr>
            </a:pPr>
            <a:r>
              <a:t>Translating continuous 425-band narrow spectroscopic signatures into 6 national public sector applications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47472"/>
          </a:xfrm>
          <a:prstGeom prst="rect">
            <a:avLst/>
          </a:prstGeom>
        </p:spPr>
      </p:pic>
      <p:pic>
        <p:nvPicPr>
          <p:cNvPr id="5" name="Picture 4" descr="pin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164592"/>
            <a:ext cx="347472" cy="347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14400" y="1371600"/>
            <a:ext cx="10332720" cy="493776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in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024" y="1225296"/>
            <a:ext cx="347472" cy="347472"/>
          </a:xfrm>
          <a:prstGeom prst="rect">
            <a:avLst/>
          </a:prstGeom>
        </p:spPr>
      </p:pic>
      <p:pic>
        <p:nvPicPr>
          <p:cNvPr id="8" name="Picture 7" descr="biochemical_taxonom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1554480"/>
            <a:ext cx="99669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84124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defRPr sz="1600" b="1">
                <a:solidFill>
                  <a:srgbClr val="0B7285"/>
                </a:solidFill>
                <a:latin typeface="Trebuchet MS"/>
              </a:defRPr>
            </a:pPr>
            <a:r>
              <a:t>From Orbit to Smallholder: Democratized Mobile Delivery</a:t>
            </a:r>
          </a:p>
          <a:p>
            <a:pPr algn="ctr">
              <a:defRPr sz="1050">
                <a:solidFill>
                  <a:srgbClr val="6D5F52"/>
                </a:solidFill>
                <a:latin typeface="Calibri"/>
              </a:defRPr>
            </a:pPr>
            <a:r>
              <a:t>Bridging satellite spectroscopy with citizen smartphones via serverless edge browser inference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47472"/>
          </a:xfrm>
          <a:prstGeom prst="rect">
            <a:avLst/>
          </a:prstGeom>
        </p:spPr>
      </p:pic>
      <p:pic>
        <p:nvPicPr>
          <p:cNvPr id="5" name="Picture 4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164592"/>
            <a:ext cx="347472" cy="347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14400" y="1371600"/>
            <a:ext cx="5486400" cy="493776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3864" y="1225296"/>
            <a:ext cx="347472" cy="347472"/>
          </a:xfrm>
          <a:prstGeom prst="rect">
            <a:avLst/>
          </a:prstGeom>
        </p:spPr>
      </p:pic>
      <p:pic>
        <p:nvPicPr>
          <p:cNvPr id="8" name="Picture 7" descr="farmer_mobile_ap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1645920"/>
            <a:ext cx="5120640" cy="4297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675120" y="1371600"/>
            <a:ext cx="4572000" cy="4937760"/>
          </a:xfrm>
          <a:prstGeom prst="roundRect">
            <a:avLst/>
          </a:prstGeom>
          <a:solidFill>
            <a:srgbClr val="F4ECDC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2B8A3E"/>
                </a:solidFill>
              </a:defRPr>
            </a:pPr>
            <a:r>
              <a:t>Serverless Spectral Inference (SSI)</a:t>
            </a:r>
          </a:p>
          <a:p>
            <a:pPr>
              <a:defRPr sz="1000"/>
            </a:pPr>
            <a:r>
              <a:t>• Zero App Install: 100% web browser execution in mobile Chrome/Safari.</a:t>
            </a:r>
          </a:p>
          <a:p>
            <a:pPr>
              <a:defRPr sz="1000"/>
            </a:pPr>
            <a:r>
              <a:t>• Zero Egress Cost: Cloudflare R2 stores COG tiles with $0 egress fees.</a:t>
            </a:r>
          </a:p>
          <a:p>
            <a:pPr>
              <a:defRPr sz="1000"/>
            </a:pPr>
            <a:r>
              <a:t>• Edge Inference: Quantized ONNX WASM model executes sub-pixel unmixing directly inside the farmer's browser in &lt;15 milliseconds.</a:t>
            </a:r>
          </a:p>
          <a:p>
            <a:pPr>
              <a:defRPr sz="1000"/>
            </a:pPr>
            <a:r>
              <a:t>• Plain Language Advisories: Translates spectral nitrogen deficit into direct KVK advice: 'Apply 12 kg Urea in Northern plot; skip Southern plot'.</a:t>
            </a:r>
          </a:p>
        </p:txBody>
      </p:sp>
      <p:pic>
        <p:nvPicPr>
          <p:cNvPr id="10" name="Picture 9" descr="pin_gre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7384" y="1225296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84124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defRPr sz="1600" b="1">
                <a:solidFill>
                  <a:srgbClr val="0B7285"/>
                </a:solidFill>
                <a:latin typeface="Trebuchet MS"/>
              </a:defRPr>
            </a:pPr>
            <a:r>
              <a:t>Operational Scenario 1: 'The Invisible Hunger' (Agriculture)</a:t>
            </a:r>
          </a:p>
          <a:p>
            <a:pPr algn="ctr">
              <a:defRPr sz="1050">
                <a:solidFill>
                  <a:srgbClr val="6D5F52"/>
                </a:solidFill>
                <a:latin typeface="Calibri"/>
              </a:defRPr>
            </a:pPr>
            <a:r>
              <a:t>3-Panel Field Story: Pre-symptomatic nitrogen deficiency detection saving fertilizer costs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47472"/>
          </a:xfrm>
          <a:prstGeom prst="rect">
            <a:avLst/>
          </a:prstGeom>
        </p:spPr>
      </p:pic>
      <p:pic>
        <p:nvPicPr>
          <p:cNvPr id="5" name="Picture 4" descr="pin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164592"/>
            <a:ext cx="347472" cy="347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14400" y="1371600"/>
            <a:ext cx="10332720" cy="493776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in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024" y="1225296"/>
            <a:ext cx="347472" cy="347472"/>
          </a:xfrm>
          <a:prstGeom prst="rect">
            <a:avLst/>
          </a:prstGeom>
        </p:spPr>
      </p:pic>
      <p:pic>
        <p:nvPicPr>
          <p:cNvPr id="8" name="Picture 7" descr="comic1_invisible_hung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1554480"/>
            <a:ext cx="99669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84124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defRPr sz="1600" b="1">
                <a:solidFill>
                  <a:srgbClr val="0B7285"/>
                </a:solidFill>
                <a:latin typeface="Trebuchet MS"/>
              </a:defRPr>
            </a:pPr>
            <a:r>
              <a:t>Operational Scenario 2: 'The Canal Lifeline' (Hydrology)</a:t>
            </a:r>
          </a:p>
          <a:p>
            <a:pPr algn="ctr">
              <a:defRPr sz="1050">
                <a:solidFill>
                  <a:srgbClr val="6D5F52"/>
                </a:solidFill>
                <a:latin typeface="Calibri"/>
              </a:defRPr>
            </a:pPr>
            <a:r>
              <a:t>3-Panel Field Story: Spaceborne effluent tracking and automated irrigation canal sluice gate diversion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47472"/>
          </a:xfrm>
          <a:prstGeom prst="rect">
            <a:avLst/>
          </a:prstGeom>
        </p:spPr>
      </p:pic>
      <p:pic>
        <p:nvPicPr>
          <p:cNvPr id="5" name="Picture 4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164592"/>
            <a:ext cx="347472" cy="347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14400" y="1371600"/>
            <a:ext cx="10332720" cy="493776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024" y="1225296"/>
            <a:ext cx="347472" cy="347472"/>
          </a:xfrm>
          <a:prstGeom prst="rect">
            <a:avLst/>
          </a:prstGeom>
        </p:spPr>
      </p:pic>
      <p:pic>
        <p:nvPicPr>
          <p:cNvPr id="8" name="Picture 7" descr="comic2_canal_lif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1554480"/>
            <a:ext cx="99669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84124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defRPr sz="1600" b="1">
                <a:solidFill>
                  <a:srgbClr val="0B7285"/>
                </a:solidFill>
                <a:latin typeface="Trebuchet MS"/>
              </a:defRPr>
            </a:pPr>
            <a:r>
              <a:t>Operational Scenario 3: 'The 14-Day Moisture Warning' (Climate)</a:t>
            </a:r>
          </a:p>
          <a:p>
            <a:pPr algn="ctr">
              <a:defRPr sz="1050">
                <a:solidFill>
                  <a:srgbClr val="6D5F52"/>
                </a:solidFill>
                <a:latin typeface="Calibri"/>
              </a:defRPr>
            </a:pPr>
            <a:r>
              <a:t>3-Panel Field Story: Detecting 970nm &amp; 1200nm cellular water thickness depletion 2 weeks before visual wilting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47472"/>
          </a:xfrm>
          <a:prstGeom prst="rect">
            <a:avLst/>
          </a:prstGeom>
        </p:spPr>
      </p:pic>
      <p:pic>
        <p:nvPicPr>
          <p:cNvPr id="5" name="Picture 4" descr="pin_yel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164592"/>
            <a:ext cx="347472" cy="347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14400" y="1371600"/>
            <a:ext cx="10332720" cy="493776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in_yel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024" y="1225296"/>
            <a:ext cx="347472" cy="347472"/>
          </a:xfrm>
          <a:prstGeom prst="rect">
            <a:avLst/>
          </a:prstGeom>
        </p:spPr>
      </p:pic>
      <p:pic>
        <p:nvPicPr>
          <p:cNvPr id="8" name="Picture 7" descr="comic3_drought_warn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1554480"/>
            <a:ext cx="99669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84124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defRPr sz="1600" b="1">
                <a:solidFill>
                  <a:srgbClr val="0B7285"/>
                </a:solidFill>
                <a:latin typeface="Trebuchet MS"/>
              </a:defRPr>
            </a:pPr>
            <a:r>
              <a:t>Operational Scenario 4: 'The Salinity Encroachment' (Soil)</a:t>
            </a:r>
          </a:p>
          <a:p>
            <a:pPr algn="ctr">
              <a:defRPr sz="1050">
                <a:solidFill>
                  <a:srgbClr val="6D5F52"/>
                </a:solidFill>
                <a:latin typeface="Calibri"/>
              </a:defRPr>
            </a:pPr>
            <a:r>
              <a:t>3-Panel Field Story: Subsurface electrical conductivity and clay mineral lattice tracking before salt crusting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47472"/>
          </a:xfrm>
          <a:prstGeom prst="rect">
            <a:avLst/>
          </a:prstGeom>
        </p:spPr>
      </p:pic>
      <p:pic>
        <p:nvPicPr>
          <p:cNvPr id="5" name="Picture 4" descr="pin_pur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164592"/>
            <a:ext cx="347472" cy="347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14400" y="1371600"/>
            <a:ext cx="10332720" cy="493776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in_pur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024" y="1225296"/>
            <a:ext cx="347472" cy="347472"/>
          </a:xfrm>
          <a:prstGeom prst="rect">
            <a:avLst/>
          </a:prstGeom>
        </p:spPr>
      </p:pic>
      <p:pic>
        <p:nvPicPr>
          <p:cNvPr id="8" name="Picture 7" descr="comic4_salinity_defen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1554480"/>
            <a:ext cx="99669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84124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defRPr sz="1600" b="1">
                <a:solidFill>
                  <a:srgbClr val="0B7285"/>
                </a:solidFill>
                <a:latin typeface="Trebuchet MS"/>
              </a:defRPr>
            </a:pPr>
            <a:r>
              <a:t>Breaking the Barriers: Compute, Economics &amp; Accessibility</a:t>
            </a:r>
          </a:p>
          <a:p>
            <a:pPr algn="ctr">
              <a:defRPr sz="1050">
                <a:solidFill>
                  <a:srgbClr val="6D5F52"/>
                </a:solidFill>
                <a:latin typeface="Calibri"/>
              </a:defRPr>
            </a:pPr>
            <a:r>
              <a:t>Democratizing advanced hyperspectral intelligence across computational, economic, and knowledge dimensions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47472"/>
          </a:xfrm>
          <a:prstGeom prst="rect">
            <a:avLst/>
          </a:prstGeom>
        </p:spPr>
      </p:pic>
      <p:pic>
        <p:nvPicPr>
          <p:cNvPr id="5" name="Picture 4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164592"/>
            <a:ext cx="347472" cy="347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14400" y="1371600"/>
            <a:ext cx="10332720" cy="493776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024" y="1225296"/>
            <a:ext cx="347472" cy="347472"/>
          </a:xfrm>
          <a:prstGeom prst="rect">
            <a:avLst/>
          </a:prstGeom>
        </p:spPr>
      </p:pic>
      <p:pic>
        <p:nvPicPr>
          <p:cNvPr id="8" name="Picture 7" descr="democratization_slab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1554480"/>
            <a:ext cx="99669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84124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defRPr sz="1600" b="1">
                <a:solidFill>
                  <a:srgbClr val="0B7285"/>
                </a:solidFill>
                <a:latin typeface="Trebuchet MS"/>
              </a:defRPr>
            </a:pPr>
            <a:r>
              <a:t>BharatSpectral: Sovereign Foundation for Indian Earth Observation</a:t>
            </a:r>
          </a:p>
          <a:p>
            <a:pPr algn="ctr">
              <a:defRPr sz="1050">
                <a:solidFill>
                  <a:srgbClr val="6D5F52"/>
                </a:solidFill>
                <a:latin typeface="Calibri"/>
              </a:defRPr>
            </a:pPr>
            <a:r>
              <a:t>A National Public Good Aligning Science, Artificial Intelligence, and Public Policy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47472"/>
          </a:xfrm>
          <a:prstGeom prst="rect">
            <a:avLst/>
          </a:prstGeom>
        </p:spPr>
      </p:pic>
      <p:pic>
        <p:nvPicPr>
          <p:cNvPr id="5" name="Picture 4" descr="pin_pur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164592"/>
            <a:ext cx="347472" cy="347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14400" y="1371600"/>
            <a:ext cx="10332720" cy="493776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in_pur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024" y="1225296"/>
            <a:ext cx="347472" cy="347472"/>
          </a:xfrm>
          <a:prstGeom prst="rect">
            <a:avLst/>
          </a:prstGeom>
        </p:spPr>
      </p:pic>
      <p:pic>
        <p:nvPicPr>
          <p:cNvPr id="8" name="Picture 7" descr="sovereign_vi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1554480"/>
            <a:ext cx="9966960" cy="4389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